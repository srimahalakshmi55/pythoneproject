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notesMasterIdLst>
    <p:notesMasterId r:id="rId3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B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457200"/>
            <a:ext cx="4389120" cy="4389120"/>
          </a:xfrm>
          <a:prstGeom prst="ellipse">
            <a:avLst/>
          </a:prstGeom>
          <a:solidFill>
            <a:srgbClr val="1A2C50"/>
          </a:solidFill>
          <a:ln/>
        </p:spPr>
      </p:sp>
      <p:sp>
        <p:nvSpPr>
          <p:cNvPr id="3" name="Shape 1"/>
          <p:cNvSpPr/>
          <p:nvPr/>
        </p:nvSpPr>
        <p:spPr>
          <a:xfrm>
            <a:off x="9966960" y="4480560"/>
            <a:ext cx="2651760" cy="2651760"/>
          </a:xfrm>
          <a:prstGeom prst="ellipse">
            <a:avLst/>
          </a:prstGeom>
          <a:solidFill>
            <a:srgbClr val="1F3560"/>
          </a:solidFill>
          <a:ln/>
        </p:spPr>
      </p:sp>
      <p:sp>
        <p:nvSpPr>
          <p:cNvPr id="4" name="Text 2"/>
          <p:cNvSpPr/>
          <p:nvPr/>
        </p:nvSpPr>
        <p:spPr>
          <a:xfrm>
            <a:off x="9326880" y="73152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C41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[]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875520" y="173736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C41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{}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235440" y="274320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C41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966960" y="365760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C41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**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418320" y="457200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C41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=&gt;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502920" y="868680"/>
            <a:ext cx="3108960" cy="402336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868680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PYTHON &amp; REVISION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1444752"/>
            <a:ext cx="8229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Advanced Python</a:t>
            </a:r>
            <a:endParaRPr lang="en-US" sz="5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Revision</a:t>
            </a:r>
            <a:endParaRPr lang="en-US" sz="5000" dirty="0"/>
          </a:p>
        </p:txBody>
      </p:sp>
      <p:sp>
        <p:nvSpPr>
          <p:cNvPr id="12" name="Text 10"/>
          <p:cNvSpPr/>
          <p:nvPr/>
        </p:nvSpPr>
        <p:spPr>
          <a:xfrm>
            <a:off x="502920" y="35204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i="1" dirty="0">
                <a:solidFill>
                  <a:srgbClr val="B7C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coverage of comprehensions, iterators, generators, *args / **kwargs, and 12 solved revision programs — everything in one deck.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502920" y="4617720"/>
            <a:ext cx="3840480" cy="420624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4617720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/ Dict / Set Comprehensions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617720" y="4617720"/>
            <a:ext cx="3840480" cy="420624"/>
          </a:xfrm>
          <a:prstGeom prst="roundRect">
            <a:avLst>
              <a:gd name="adj" fmla="val 50000"/>
            </a:avLst>
          </a:prstGeom>
          <a:solidFill>
            <a:srgbClr val="3D1A70"/>
          </a:solidFill>
          <a:ln/>
        </p:spPr>
      </p:sp>
      <p:sp>
        <p:nvSpPr>
          <p:cNvPr id="16" name="Text 14"/>
          <p:cNvSpPr/>
          <p:nvPr/>
        </p:nvSpPr>
        <p:spPr>
          <a:xfrm>
            <a:off x="4617720" y="4617720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Iterators &amp; Generators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02920" y="5148072"/>
            <a:ext cx="3840480" cy="420624"/>
          </a:xfrm>
          <a:prstGeom prst="roundRect">
            <a:avLst>
              <a:gd name="adj" fmla="val 50000"/>
            </a:avLst>
          </a:prstGeom>
          <a:solidFill>
            <a:srgbClr val="7C3D00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5148072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*args &amp; **kwargs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617720" y="5148072"/>
            <a:ext cx="3840480" cy="420624"/>
          </a:xfrm>
          <a:prstGeom prst="roundRect">
            <a:avLst>
              <a:gd name="adj" fmla="val 50000"/>
            </a:avLst>
          </a:prstGeom>
          <a:solidFill>
            <a:srgbClr val="024A4A"/>
          </a:solidFill>
          <a:ln/>
        </p:spPr>
      </p:sp>
      <p:sp>
        <p:nvSpPr>
          <p:cNvPr id="20" name="Text 18"/>
          <p:cNvSpPr/>
          <p:nvPr/>
        </p:nvSpPr>
        <p:spPr>
          <a:xfrm>
            <a:off x="4617720" y="5148072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Revision Programs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02920" y="6309360"/>
            <a:ext cx="9144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8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Foundation Track  ·  Talent Shine — LBRC Technical Training Programme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109728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 — Full Agenda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5440680" cy="2240280"/>
          </a:xfrm>
          <a:prstGeom prst="roundRect">
            <a:avLst>
              <a:gd name="adj" fmla="val 4082"/>
            </a:avLst>
          </a:prstGeom>
          <a:solidFill>
            <a:srgbClr val="F5F7FB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581912"/>
            <a:ext cx="475488" cy="475488"/>
          </a:xfrm>
          <a:prstGeom prst="roundRect">
            <a:avLst>
              <a:gd name="adj" fmla="val 11538"/>
            </a:avLst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5819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289304" y="160020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List Comprehensions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2194560"/>
            <a:ext cx="49377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▸"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syntax [expr for item in iterable]</a:t>
            </a:r>
            <a:endParaRPr lang="en-US" sz="1250" dirty="0"/>
          </a:p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▸"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filtering with if</a:t>
            </a:r>
            <a:endParaRPr lang="en-US" sz="1250" dirty="0"/>
          </a:p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▸"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 comprehensions</a:t>
            </a:r>
            <a:endParaRPr lang="en-US" sz="1250" dirty="0"/>
          </a:p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▸"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traditional for-loop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17920" y="1417320"/>
            <a:ext cx="5440680" cy="2240280"/>
          </a:xfrm>
          <a:prstGeom prst="roundRect">
            <a:avLst>
              <a:gd name="adj" fmla="val 4082"/>
            </a:avLst>
          </a:prstGeom>
          <a:solidFill>
            <a:srgbClr val="F5F7FB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0" y="1581912"/>
            <a:ext cx="475488" cy="475488"/>
          </a:xfrm>
          <a:prstGeom prst="roundRect">
            <a:avLst>
              <a:gd name="adj" fmla="val 11538"/>
            </a:avLst>
          </a:prstGeom>
          <a:solidFill>
            <a:srgbClr val="3D1A70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0" y="15819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004304" y="160020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D1A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Dict &amp; Set Comprehensions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537960" y="2194560"/>
            <a:ext cx="49377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▸"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{k:v for k,v in items}</a:t>
            </a:r>
            <a:endParaRPr lang="en-US" sz="1250" dirty="0"/>
          </a:p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▸"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 expr for item in iterable }</a:t>
            </a:r>
            <a:endParaRPr lang="en-US" sz="1250" dirty="0"/>
          </a:p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▸"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Filtering &amp; transforming</a:t>
            </a:r>
            <a:endParaRPr lang="en-US" sz="1250" dirty="0"/>
          </a:p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▸"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examples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02920" y="3867912"/>
            <a:ext cx="5440680" cy="2240280"/>
          </a:xfrm>
          <a:prstGeom prst="roundRect">
            <a:avLst>
              <a:gd name="adj" fmla="val 4082"/>
            </a:avLst>
          </a:prstGeom>
          <a:solidFill>
            <a:srgbClr val="F5F7FB"/>
          </a:solidFill>
          <a:ln/>
        </p:spPr>
      </p:sp>
      <p:sp>
        <p:nvSpPr>
          <p:cNvPr id="15" name="Shape 13"/>
          <p:cNvSpPr/>
          <p:nvPr/>
        </p:nvSpPr>
        <p:spPr>
          <a:xfrm>
            <a:off x="685800" y="4032504"/>
            <a:ext cx="475488" cy="475488"/>
          </a:xfrm>
          <a:prstGeom prst="roundRect">
            <a:avLst>
              <a:gd name="adj" fmla="val 11538"/>
            </a:avLst>
          </a:prstGeom>
          <a:solidFill>
            <a:srgbClr val="7C3D00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403250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289304" y="4050792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C3D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Iterators &amp; Generators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22960" y="4645152"/>
            <a:ext cx="49377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▸"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__iter__ and __next__</a:t>
            </a:r>
            <a:endParaRPr lang="en-US" sz="1250" dirty="0"/>
          </a:p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▸"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iter() and next() built-ins</a:t>
            </a:r>
            <a:endParaRPr lang="en-US" sz="1250" dirty="0"/>
          </a:p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▸"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yield keyword</a:t>
            </a:r>
            <a:endParaRPr lang="en-US" sz="1250" dirty="0"/>
          </a:p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▸"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Generator expressions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17920" y="3867912"/>
            <a:ext cx="5440680" cy="2240280"/>
          </a:xfrm>
          <a:prstGeom prst="roundRect">
            <a:avLst>
              <a:gd name="adj" fmla="val 4082"/>
            </a:avLst>
          </a:prstGeom>
          <a:solidFill>
            <a:srgbClr val="F5F7FB"/>
          </a:solidFill>
          <a:ln/>
        </p:spPr>
      </p:sp>
      <p:sp>
        <p:nvSpPr>
          <p:cNvPr id="20" name="Shape 18"/>
          <p:cNvSpPr/>
          <p:nvPr/>
        </p:nvSpPr>
        <p:spPr>
          <a:xfrm>
            <a:off x="6400800" y="4032504"/>
            <a:ext cx="475488" cy="475488"/>
          </a:xfrm>
          <a:prstGeom prst="roundRect">
            <a:avLst>
              <a:gd name="adj" fmla="val 11538"/>
            </a:avLst>
          </a:prstGeom>
          <a:solidFill>
            <a:srgbClr val="024A4A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0" y="403250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7004304" y="4050792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4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*args &amp; **kwargs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537960" y="4645152"/>
            <a:ext cx="49377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▸"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positional args (*args)</a:t>
            </a:r>
            <a:endParaRPr lang="en-US" sz="1250" dirty="0"/>
          </a:p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▸"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keyword args (**kwargs)</a:t>
            </a:r>
            <a:endParaRPr lang="en-US" sz="1250" dirty="0"/>
          </a:p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▸"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Combining all param types</a:t>
            </a:r>
            <a:endParaRPr lang="en-US" sz="1250" dirty="0"/>
          </a:p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▸"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Passing * and ** at call time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02920" y="6053328"/>
            <a:ext cx="11183112" cy="621792"/>
          </a:xfrm>
          <a:prstGeom prst="roundRect">
            <a:avLst>
              <a:gd name="adj" fmla="val 11765"/>
            </a:avLst>
          </a:prstGeom>
          <a:solidFill>
            <a:srgbClr val="1B2A4A"/>
          </a:solidFill>
          <a:ln/>
        </p:spPr>
      </p:sp>
      <p:sp>
        <p:nvSpPr>
          <p:cNvPr id="25" name="Text 23"/>
          <p:cNvSpPr/>
          <p:nvPr/>
        </p:nvSpPr>
        <p:spPr>
          <a:xfrm>
            <a:off x="685800" y="6053328"/>
            <a:ext cx="10789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Solved Programs: Flatten List · Matrix Transpose · Word Frequency · Remove Duplicates · Merge Dicts · Sort by Value · Most Frequent · Nested Traversal · File Statistics · Prime Generator · Custom Sort · Comprehensive Mixed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02920" y="6528816"/>
            <a:ext cx="9601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Advanced &amp; Revision  ·  Talent Shine — LBRC Technical Training Programme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475720" y="6528816"/>
            <a:ext cx="365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B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548640"/>
            <a:ext cx="3840480" cy="3840480"/>
          </a:xfrm>
          <a:prstGeom prst="ellipse">
            <a:avLst/>
          </a:prstGeom>
          <a:solidFill>
            <a:srgbClr val="1A2C50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572000"/>
            <a:ext cx="2377440" cy="23774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2194560"/>
            <a:ext cx="914400" cy="914400"/>
          </a:xfrm>
          <a:prstGeom prst="roundRect">
            <a:avLst>
              <a:gd name="adj" fmla="val 8000"/>
            </a:avLst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1945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600200" y="2212848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89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600200" y="2578608"/>
            <a:ext cx="9875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List Comprehensions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1600200" y="3886200"/>
            <a:ext cx="9326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B7C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lists concisely without writing explicit for-loops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COMPREHENSIONS · CONCEPT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109728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Are List Comprehensions?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5440680" cy="2926080"/>
          </a:xfrm>
          <a:prstGeom prst="roundRect">
            <a:avLst>
              <a:gd name="adj" fmla="val 2500"/>
            </a:avLst>
          </a:prstGeom>
          <a:solidFill>
            <a:srgbClr val="F5F7FB"/>
          </a:solidFill>
          <a:ln/>
        </p:spPr>
      </p:sp>
      <p:sp>
        <p:nvSpPr>
          <p:cNvPr id="5" name="Text 3"/>
          <p:cNvSpPr/>
          <p:nvPr/>
        </p:nvSpPr>
        <p:spPr>
          <a:xfrm>
            <a:off x="795528" y="1609344"/>
            <a:ext cx="4855464" cy="2450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900"/>
              </a:spcAft>
              <a:buSzPct val="100000"/>
              <a:buChar char="▸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one-line way to build a new list by looping over an iterable and optionally filtering items.</a:t>
            </a:r>
            <a:endParaRPr lang="en-US" sz="1300" dirty="0"/>
          </a:p>
          <a:p>
            <a:pPr marL="342900" indent="-342900">
              <a:lnSpc>
                <a:spcPct val="110000"/>
              </a:lnSpc>
              <a:spcAft>
                <a:spcPts val="900"/>
              </a:spcAft>
              <a:buSzPct val="100000"/>
              <a:buChar char="▸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Syntax: [ expression  for  item  in  iterable  if  condition ]</a:t>
            </a:r>
            <a:endParaRPr lang="en-US" sz="1300" dirty="0"/>
          </a:p>
          <a:p>
            <a:pPr marL="342900" indent="-342900">
              <a:lnSpc>
                <a:spcPct val="110000"/>
              </a:lnSpc>
              <a:spcAft>
                <a:spcPts val="900"/>
              </a:spcAft>
              <a:buSzPct val="100000"/>
              <a:buChar char="▸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condition part is optional — leave it out to transform every item.</a:t>
            </a:r>
            <a:endParaRPr lang="en-US" sz="1300" dirty="0"/>
          </a:p>
          <a:p>
            <a:pPr marL="342900" indent="-342900">
              <a:lnSpc>
                <a:spcPct val="110000"/>
              </a:lnSpc>
              <a:spcAft>
                <a:spcPts val="900"/>
              </a:spcAft>
              <a:buSzPct val="100000"/>
              <a:buChar char="▸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evaluates the expression for each item that passes the condition.</a:t>
            </a:r>
            <a:endParaRPr lang="en-US" sz="1300" dirty="0"/>
          </a:p>
          <a:p>
            <a:pPr marL="342900" indent="-342900">
              <a:lnSpc>
                <a:spcPct val="110000"/>
              </a:lnSpc>
              <a:spcAft>
                <a:spcPts val="900"/>
              </a:spcAft>
              <a:buSzPct val="100000"/>
              <a:buChar char="▸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Much faster than building a list by append() inside a for-loop.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4480560"/>
            <a:ext cx="5440680" cy="384048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4480560"/>
            <a:ext cx="5440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Loop vs Comprehension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4956048"/>
            <a:ext cx="5440680" cy="1572768"/>
          </a:xfrm>
          <a:prstGeom prst="roundRect">
            <a:avLst>
              <a:gd name="adj" fmla="val 4651"/>
            </a:avLst>
          </a:prstGeom>
          <a:solidFill>
            <a:srgbClr val="F5F7FB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502920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246120" y="502920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Comprehension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85800" y="5349240"/>
            <a:ext cx="2103120" cy="1078992"/>
          </a:xfrm>
          <a:prstGeom prst="roundRect">
            <a:avLst>
              <a:gd name="adj" fmla="val 5932"/>
            </a:avLst>
          </a:prstGeom>
          <a:solidFill>
            <a:srgbClr val="13213A"/>
          </a:solidFill>
          <a:ln/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86968" y="5513832"/>
            <a:ext cx="170078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squares = []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n in range(1,6):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squares.append(n**2)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063240" y="5349240"/>
            <a:ext cx="2651760" cy="907999"/>
          </a:xfrm>
          <a:prstGeom prst="roundRect">
            <a:avLst>
              <a:gd name="adj" fmla="val 7049"/>
            </a:avLst>
          </a:prstGeom>
          <a:solidFill>
            <a:srgbClr val="13213A"/>
          </a:solidFill>
          <a:ln/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264408" y="5513832"/>
            <a:ext cx="2249424" cy="5788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squares = [n**2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 n in range(1,6)]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199632" y="1371600"/>
            <a:ext cx="5394960" cy="384048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16" name="Text 14"/>
          <p:cNvSpPr/>
          <p:nvPr/>
        </p:nvSpPr>
        <p:spPr>
          <a:xfrm>
            <a:off x="6199632" y="1371600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 — All Forms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99632" y="1828800"/>
            <a:ext cx="5394960" cy="3883457"/>
          </a:xfrm>
          <a:prstGeom prst="roundRect">
            <a:avLst>
              <a:gd name="adj" fmla="val 1648"/>
            </a:avLst>
          </a:prstGeom>
          <a:solidFill>
            <a:srgbClr val="13213A"/>
          </a:solidFill>
          <a:ln/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00800" y="1993392"/>
            <a:ext cx="4992624" cy="3554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AA0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Basic — square every number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squares = [x**2 for x in range(1,6)]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AA0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[1, 4, 9, 16, 25]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AA0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With filter — evens only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evens = [x for x in range(1,11) if x%2==0]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AA0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[2, 4, 6, 8, 10]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AA0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String transformation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words = ['hello','WORLD','Python']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lower = [w.lower() for w in words]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AA0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['hello', 'world', 'python']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AA0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4. if-else inside expression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labels = ['even' if x%2==0 else 'odd'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for x in range(1,6)]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AA0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['odd','even','odd','even','odd']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2920" y="6528816"/>
            <a:ext cx="9601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Advanced &amp; Revision  ·  Talent Shine — LBRC Technical Training Programme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475720" y="6528816"/>
            <a:ext cx="365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COMPREHENSIONS · NESTED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109728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Nested List Comprehensions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5440680" cy="1920240"/>
          </a:xfrm>
          <a:prstGeom prst="roundRect">
            <a:avLst>
              <a:gd name="adj" fmla="val 3810"/>
            </a:avLst>
          </a:prstGeom>
          <a:solidFill>
            <a:srgbClr val="F5F7FB"/>
          </a:solidFill>
          <a:ln/>
        </p:spPr>
      </p:sp>
      <p:sp>
        <p:nvSpPr>
          <p:cNvPr id="5" name="Text 3"/>
          <p:cNvSpPr/>
          <p:nvPr/>
        </p:nvSpPr>
        <p:spPr>
          <a:xfrm>
            <a:off x="795528" y="1609344"/>
            <a:ext cx="4855464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900"/>
              </a:spcAft>
              <a:buSzPct val="100000"/>
              <a:buChar char="▸"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 comprehensions produce a comprehension inside another — useful for flattening 2-D lists or building matrices.</a:t>
            </a:r>
            <a:endParaRPr lang="en-US" sz="1350" dirty="0"/>
          </a:p>
          <a:p>
            <a:pPr marL="342900" indent="-342900">
              <a:lnSpc>
                <a:spcPct val="110000"/>
              </a:lnSpc>
              <a:spcAft>
                <a:spcPts val="900"/>
              </a:spcAft>
              <a:buSzPct val="100000"/>
              <a:buChar char="▸"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Outer loop is written first, inner loop second (read left to right like nested for-loops).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02920" y="3456432"/>
            <a:ext cx="5440680" cy="384048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3456432"/>
            <a:ext cx="5440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 Comprehension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3913632"/>
            <a:ext cx="5440680" cy="2468880"/>
          </a:xfrm>
          <a:prstGeom prst="roundRect">
            <a:avLst>
              <a:gd name="adj" fmla="val 2593"/>
            </a:avLst>
          </a:prstGeom>
          <a:solidFill>
            <a:srgbClr val="13213A"/>
          </a:solidFill>
          <a:ln/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04088" y="4078224"/>
            <a:ext cx="5038344" cy="2139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AA0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Matrix: 3 rows x 3 cols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matrix = [[i*j for j in range(1,4)]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for i in range(1,4)]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AA0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[[1,2,3],[2,4,6],[3,6,9]]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AA0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Flatten a 2-D list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nested = [[1,2,3],[4,5],[6,7,8,9]]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flat = [x for row in nested for x in row]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AA0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[1, 2, 3, 4, 5, 6, 7, 8, 9]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99632" y="1371600"/>
            <a:ext cx="5394960" cy="384048"/>
          </a:xfrm>
          <a:prstGeom prst="roundRect">
            <a:avLst>
              <a:gd name="adj" fmla="val 50000"/>
            </a:avLst>
          </a:prstGeom>
          <a:solidFill>
            <a:srgbClr val="2C4170"/>
          </a:solidFill>
          <a:ln/>
        </p:spPr>
      </p:sp>
      <p:sp>
        <p:nvSpPr>
          <p:cNvPr id="11" name="Text 9"/>
          <p:cNvSpPr/>
          <p:nvPr/>
        </p:nvSpPr>
        <p:spPr>
          <a:xfrm>
            <a:off x="6199632" y="1371600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Comparison: Nested Loop vs Comprehension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99632" y="1828800"/>
            <a:ext cx="5394960" cy="3883457"/>
          </a:xfrm>
          <a:prstGeom prst="roundRect">
            <a:avLst>
              <a:gd name="adj" fmla="val 1648"/>
            </a:avLst>
          </a:prstGeom>
          <a:solidFill>
            <a:srgbClr val="13213A"/>
          </a:solidFill>
          <a:ln/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00800" y="1993392"/>
            <a:ext cx="4992624" cy="3554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AA0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Traditional nested loop approach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flat = []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nested = [[1,2],[3,4],[5,6]]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row in nested: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item in row: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flat.append(item)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AA0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[1, 2, 3, 4, 5, 6]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AA0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Comprehension approach (one line!)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flat = [item for row in nested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for item in row]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AA0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[1, 2, 3, 4, 5, 6]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AA0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Comprehension with condition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pos_flat = [x for row in nested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for x in row if x &gt; 2]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AA0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[3, 4, 5, 6]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" y="6528816"/>
            <a:ext cx="9601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Advanced &amp; Revision  ·  Talent Shine — LBRC Technical Training Programme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475720" y="6528816"/>
            <a:ext cx="365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B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548640"/>
            <a:ext cx="3840480" cy="3840480"/>
          </a:xfrm>
          <a:prstGeom prst="ellipse">
            <a:avLst/>
          </a:prstGeom>
          <a:solidFill>
            <a:srgbClr val="1A2C50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572000"/>
            <a:ext cx="2377440" cy="2377440"/>
          </a:xfrm>
          <a:prstGeom prst="ellipse">
            <a:avLst/>
          </a:prstGeom>
          <a:solidFill>
            <a:srgbClr val="3D1A70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2194560"/>
            <a:ext cx="914400" cy="914400"/>
          </a:xfrm>
          <a:prstGeom prst="roundRect">
            <a:avLst>
              <a:gd name="adj" fmla="val 8000"/>
            </a:avLst>
          </a:prstGeom>
          <a:solidFill>
            <a:srgbClr val="3D1A70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1945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600200" y="2212848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89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600200" y="2578608"/>
            <a:ext cx="9875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Dict &amp; Set Comprehensions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1600200" y="3886200"/>
            <a:ext cx="9326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B7C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dictionaries and sets in a single expressive line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DICTIONARY COMPREHENSIONS · CONCEPT &amp; EXAMPLES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109728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Dictionary Comprehensions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5440680" cy="1737360"/>
          </a:xfrm>
          <a:prstGeom prst="roundRect">
            <a:avLst>
              <a:gd name="adj" fmla="val 4211"/>
            </a:avLst>
          </a:prstGeom>
          <a:solidFill>
            <a:srgbClr val="F5F7FB"/>
          </a:solidFill>
          <a:ln/>
        </p:spPr>
      </p:sp>
      <p:sp>
        <p:nvSpPr>
          <p:cNvPr id="5" name="Text 3"/>
          <p:cNvSpPr/>
          <p:nvPr/>
        </p:nvSpPr>
        <p:spPr>
          <a:xfrm>
            <a:off x="795528" y="1609344"/>
            <a:ext cx="4855464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900"/>
              </a:spcAft>
              <a:buSzPct val="100000"/>
              <a:buChar char="▸"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Syntax: { key_expr : value_expr  for  item  in  iterable  if  condition }</a:t>
            </a:r>
            <a:endParaRPr lang="en-US" sz="1350" dirty="0"/>
          </a:p>
          <a:p>
            <a:pPr marL="342900" indent="-342900">
              <a:lnSpc>
                <a:spcPct val="110000"/>
              </a:lnSpc>
              <a:spcAft>
                <a:spcPts val="900"/>
              </a:spcAft>
              <a:buSzPct val="100000"/>
              <a:buChar char="▸"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a dict directly — no need to create an empty dict and update in a loop.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02920" y="3246120"/>
            <a:ext cx="5440680" cy="384048"/>
          </a:xfrm>
          <a:prstGeom prst="roundRect">
            <a:avLst>
              <a:gd name="adj" fmla="val 50000"/>
            </a:avLst>
          </a:prstGeom>
          <a:solidFill>
            <a:srgbClr val="3D1A70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3246120"/>
            <a:ext cx="5440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 Comprehension Examples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3703320"/>
            <a:ext cx="5440680" cy="3208630"/>
          </a:xfrm>
          <a:prstGeom prst="roundRect">
            <a:avLst>
              <a:gd name="adj" fmla="val 1995"/>
            </a:avLst>
          </a:prstGeom>
          <a:solidFill>
            <a:srgbClr val="13213A"/>
          </a:solidFill>
          <a:ln/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04088" y="3867912"/>
            <a:ext cx="5038344" cy="2879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AA0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Squares dict  {1:1, 2:4, 3:9 ...}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 = {n: n**2 for n in range(1,6)}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8AA0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Invert a dictionary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 = {'a':1, 'b':2, 'c':3}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 = {v: k for k, v in d.items()}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8AA0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{1:'a', 2:'b', 3:'c'}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8AA0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Filter — keep only high scorers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scores = {'Asha':88,'Ravi':45,'Dev':92}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pass_ = {k:v for k,v in scores.items()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if v &gt;= 60}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8AA0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{'Asha':88, 'Dev':92}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99632" y="1371600"/>
            <a:ext cx="5394960" cy="384048"/>
          </a:xfrm>
          <a:prstGeom prst="roundRect">
            <a:avLst>
              <a:gd name="adj" fmla="val 50000"/>
            </a:avLst>
          </a:prstGeom>
          <a:solidFill>
            <a:srgbClr val="3D1A70"/>
          </a:solidFill>
          <a:ln/>
        </p:spPr>
      </p:sp>
      <p:sp>
        <p:nvSpPr>
          <p:cNvPr id="11" name="Text 9"/>
          <p:cNvSpPr/>
          <p:nvPr/>
        </p:nvSpPr>
        <p:spPr>
          <a:xfrm>
            <a:off x="6199632" y="1371600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Comprehensions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99632" y="1828800"/>
            <a:ext cx="5394960" cy="1371600"/>
          </a:xfrm>
          <a:prstGeom prst="roundRect">
            <a:avLst>
              <a:gd name="adj" fmla="val 5333"/>
            </a:avLst>
          </a:prstGeom>
          <a:solidFill>
            <a:srgbClr val="F5F7FB"/>
          </a:solidFill>
          <a:ln/>
        </p:spPr>
      </p:sp>
      <p:sp>
        <p:nvSpPr>
          <p:cNvPr id="13" name="Text 11"/>
          <p:cNvSpPr/>
          <p:nvPr/>
        </p:nvSpPr>
        <p:spPr>
          <a:xfrm>
            <a:off x="6492240" y="2066544"/>
            <a:ext cx="480974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900"/>
              </a:spcAft>
              <a:buSzPct val="100000"/>
              <a:buChar char="▸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Syntax: { expression  for  item  in  iterable  if  condition }</a:t>
            </a:r>
            <a:endParaRPr lang="en-US" sz="1300" dirty="0"/>
          </a:p>
          <a:p>
            <a:pPr marL="342900" indent="-342900">
              <a:lnSpc>
                <a:spcPct val="110000"/>
              </a:lnSpc>
              <a:spcAft>
                <a:spcPts val="900"/>
              </a:spcAft>
              <a:buSzPct val="100000"/>
              <a:buChar char="▸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a set — duplicates are removed automatically.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199632" y="3337560"/>
            <a:ext cx="5394960" cy="3411626"/>
          </a:xfrm>
          <a:prstGeom prst="roundRect">
            <a:avLst>
              <a:gd name="adj" fmla="val 1876"/>
            </a:avLst>
          </a:prstGeom>
          <a:solidFill>
            <a:srgbClr val="13213A"/>
          </a:solidFill>
          <a:ln/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00800" y="3502152"/>
            <a:ext cx="4992624" cy="3082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AA0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Unique squares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nums = [1,-1,2,-2,3,3,4]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unique_sq = {x**2 for x in nums}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8AA0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{1, 4, 9, 16}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8AA0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Unique vowels in a sentence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sentence = 'The quick brown fox'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vowels = {c.lower() for c in sentence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if c.lower() in 'aeiou'}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8AA0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{'e', 'i', 'o', 'u'}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8AA0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Filter even from a set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evens = {x for x in range(1,11) if x%2==0}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8AA0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{2, 4, 6, 8, 10}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02920" y="6528816"/>
            <a:ext cx="9601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Advanced &amp; Revision  ·  Talent Shine — LBRC Technical Training Programme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475720" y="6528816"/>
            <a:ext cx="365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COMPREHENSIONS · QUICK REFERENCE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109728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 Three Comprehension Types — Side by Side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17320"/>
          <a:ext cx="11183112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200400"/>
                <a:gridCol w="1828800"/>
                <a:gridCol w="4690872"/>
              </a:tblGrid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1A7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Syntax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1A7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1A7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1A70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D1A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  [ ]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B6B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 expr for x in it if cond ]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B6B8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Ordered list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B6B8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[x**2 for x in range(5)]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D1A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Dict  { : }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F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B6B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 k:v for k,v in it if cond }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F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B6B8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Key-value dict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F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B6B8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{x:x**2 for x in range(5)}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FF6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D1A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   { }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B6B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 expr for x in it if cond }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B6B8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Unique values set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B6B8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{x**2 for x in range(5)}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02920" y="3520440"/>
            <a:ext cx="11183112" cy="1508760"/>
          </a:xfrm>
          <a:prstGeom prst="roundRect">
            <a:avLst>
              <a:gd name="adj" fmla="val 6061"/>
            </a:avLst>
          </a:prstGeom>
          <a:solidFill>
            <a:srgbClr val="F5F7FB"/>
          </a:solidFill>
          <a:ln/>
        </p:spPr>
      </p:sp>
      <p:sp>
        <p:nvSpPr>
          <p:cNvPr id="6" name="Shape 3"/>
          <p:cNvSpPr/>
          <p:nvPr/>
        </p:nvSpPr>
        <p:spPr>
          <a:xfrm>
            <a:off x="594360" y="3584448"/>
            <a:ext cx="3200400" cy="384048"/>
          </a:xfrm>
          <a:prstGeom prst="roundRect">
            <a:avLst>
              <a:gd name="adj" fmla="val 14286"/>
            </a:avLst>
          </a:prstGeom>
          <a:solidFill>
            <a:srgbClr val="3D1A70"/>
          </a:solidFill>
          <a:ln/>
        </p:spPr>
      </p:sp>
      <p:sp>
        <p:nvSpPr>
          <p:cNvPr id="7" name="Text 4"/>
          <p:cNvSpPr/>
          <p:nvPr/>
        </p:nvSpPr>
        <p:spPr>
          <a:xfrm>
            <a:off x="594360" y="358444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Generator Expression — ( )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77240" y="4023360"/>
            <a:ext cx="106070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Looks like a list comprehension but uses ( ) instead of [ ].  Returns a generator object that yields values one at a time — memory-efficient for large data.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02920" y="5230368"/>
            <a:ext cx="5394960" cy="384048"/>
          </a:xfrm>
          <a:prstGeom prst="roundRect">
            <a:avLst>
              <a:gd name="adj" fmla="val 50000"/>
            </a:avLst>
          </a:prstGeom>
          <a:solidFill>
            <a:srgbClr val="3D1A70"/>
          </a:solidFill>
          <a:ln/>
        </p:spPr>
      </p:sp>
      <p:sp>
        <p:nvSpPr>
          <p:cNvPr id="10" name="Text 7"/>
          <p:cNvSpPr/>
          <p:nvPr/>
        </p:nvSpPr>
        <p:spPr>
          <a:xfrm>
            <a:off x="502920" y="523036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Generator Expression Example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02920" y="5687568"/>
            <a:ext cx="5394960" cy="1176833"/>
          </a:xfrm>
          <a:prstGeom prst="roundRect">
            <a:avLst>
              <a:gd name="adj" fmla="val 5439"/>
            </a:avLst>
          </a:prstGeom>
          <a:solidFill>
            <a:srgbClr val="13213A"/>
          </a:solidFill>
          <a:ln/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704088" y="5852160"/>
            <a:ext cx="4992624" cy="8476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 = (x**2 for x in range(1,6))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print(next(gen))  # 1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print(next(gen))  # 4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6172200" y="5230368"/>
            <a:ext cx="5394960" cy="384048"/>
          </a:xfrm>
          <a:prstGeom prst="roundRect">
            <a:avLst>
              <a:gd name="adj" fmla="val 50000"/>
            </a:avLst>
          </a:prstGeom>
          <a:solidFill>
            <a:srgbClr val="5B6B85"/>
          </a:solidFill>
          <a:ln/>
        </p:spPr>
      </p:sp>
      <p:sp>
        <p:nvSpPr>
          <p:cNvPr id="14" name="Text 11"/>
          <p:cNvSpPr/>
          <p:nvPr/>
        </p:nvSpPr>
        <p:spPr>
          <a:xfrm>
            <a:off x="6172200" y="523036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List Comprehension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172200" y="5687568"/>
            <a:ext cx="5394960" cy="972922"/>
          </a:xfrm>
          <a:prstGeom prst="roundRect">
            <a:avLst>
              <a:gd name="adj" fmla="val 6579"/>
            </a:avLst>
          </a:prstGeom>
          <a:solidFill>
            <a:srgbClr val="13213A"/>
          </a:solidFill>
          <a:ln/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6373368" y="5852160"/>
            <a:ext cx="4992624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lst = [x**2 for x in range(1,6)]   # stores ALL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 = (x**2 for x in range(1,6))   # lazy — one at a time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502920" y="6528816"/>
            <a:ext cx="9601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Advanced &amp; Revision  ·  Talent Shine — LBRC Technical Training Programme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475720" y="6528816"/>
            <a:ext cx="365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B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548640"/>
            <a:ext cx="3840480" cy="3840480"/>
          </a:xfrm>
          <a:prstGeom prst="ellipse">
            <a:avLst/>
          </a:prstGeom>
          <a:solidFill>
            <a:srgbClr val="1A2C50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572000"/>
            <a:ext cx="2377440" cy="2377440"/>
          </a:xfrm>
          <a:prstGeom prst="ellipse">
            <a:avLst/>
          </a:prstGeom>
          <a:solidFill>
            <a:srgbClr val="7C3D00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2194560"/>
            <a:ext cx="914400" cy="914400"/>
          </a:xfrm>
          <a:prstGeom prst="roundRect">
            <a:avLst>
              <a:gd name="adj" fmla="val 8000"/>
            </a:avLst>
          </a:prstGeom>
          <a:solidFill>
            <a:srgbClr val="7C3D00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1945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600200" y="2212848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89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600200" y="2578608"/>
            <a:ext cx="9875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Iterators &amp; Generators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1600200" y="3886200"/>
            <a:ext cx="9326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B7C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Python loops work under the hood — and how to build your own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ITERATORS · CONCEPT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109728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Iterators — __iter__ &amp; __next__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5440680" cy="3017520"/>
          </a:xfrm>
          <a:prstGeom prst="roundRect">
            <a:avLst>
              <a:gd name="adj" fmla="val 2424"/>
            </a:avLst>
          </a:prstGeom>
          <a:solidFill>
            <a:srgbClr val="F5F7FB"/>
          </a:solidFill>
          <a:ln/>
        </p:spPr>
      </p:sp>
      <p:sp>
        <p:nvSpPr>
          <p:cNvPr id="5" name="Text 3"/>
          <p:cNvSpPr/>
          <p:nvPr/>
        </p:nvSpPr>
        <p:spPr>
          <a:xfrm>
            <a:off x="795528" y="1609344"/>
            <a:ext cx="4855464" cy="2542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900"/>
              </a:spcAft>
              <a:buSzPct val="100000"/>
              <a:buChar char="▸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iterable is any object you can loop over (list, string, tuple, dict…).</a:t>
            </a:r>
            <a:endParaRPr lang="en-US" sz="1300" dirty="0"/>
          </a:p>
          <a:p>
            <a:pPr marL="342900" indent="-342900">
              <a:lnSpc>
                <a:spcPct val="110000"/>
              </a:lnSpc>
              <a:spcAft>
                <a:spcPts val="900"/>
              </a:spcAft>
              <a:buSzPct val="100000"/>
              <a:buChar char="▸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iterator is an object with __iter__() and __next__() methods.</a:t>
            </a:r>
            <a:endParaRPr lang="en-US" sz="1300" dirty="0"/>
          </a:p>
          <a:p>
            <a:pPr marL="342900" indent="-342900">
              <a:lnSpc>
                <a:spcPct val="110000"/>
              </a:lnSpc>
              <a:spcAft>
                <a:spcPts val="900"/>
              </a:spcAft>
              <a:buSzPct val="100000"/>
              <a:buChar char="▸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iter(obj) returns an iterator. next(it) fetches the next value.</a:t>
            </a:r>
            <a:endParaRPr lang="en-US" sz="1300" dirty="0"/>
          </a:p>
          <a:p>
            <a:pPr marL="342900" indent="-342900">
              <a:lnSpc>
                <a:spcPct val="110000"/>
              </a:lnSpc>
              <a:spcAft>
                <a:spcPts val="900"/>
              </a:spcAft>
              <a:buSzPct val="100000"/>
              <a:buChar char="▸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values are exhausted, next() raises StopIteration — Python's for-loop catches this automatically.</a:t>
            </a:r>
            <a:endParaRPr lang="en-US" sz="1300" dirty="0"/>
          </a:p>
          <a:p>
            <a:pPr marL="342900" indent="-342900">
              <a:lnSpc>
                <a:spcPct val="110000"/>
              </a:lnSpc>
              <a:spcAft>
                <a:spcPts val="900"/>
              </a:spcAft>
              <a:buSzPct val="100000"/>
              <a:buChar char="▸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iterator is also an iterable (it returns itself from __iter__).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4553712"/>
            <a:ext cx="5440680" cy="384048"/>
          </a:xfrm>
          <a:prstGeom prst="roundRect">
            <a:avLst>
              <a:gd name="adj" fmla="val 50000"/>
            </a:avLst>
          </a:prstGeom>
          <a:solidFill>
            <a:srgbClr val="7C3D00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4553712"/>
            <a:ext cx="5440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iter() &amp; next() in Action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5010912"/>
            <a:ext cx="5440680" cy="1835201"/>
          </a:xfrm>
          <a:prstGeom prst="roundRect">
            <a:avLst>
              <a:gd name="adj" fmla="val 3488"/>
            </a:avLst>
          </a:prstGeom>
          <a:solidFill>
            <a:srgbClr val="13213A"/>
          </a:solidFill>
          <a:ln/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04088" y="5175504"/>
            <a:ext cx="5038344" cy="1506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nums = [10, 20, 30]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 = iter(nums)        # get iterator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print(next(it))  # 10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print(next(it))  # 20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print(next(it))  # 30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AA0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next(it) → StopIteration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99632" y="1371600"/>
            <a:ext cx="5394960" cy="384048"/>
          </a:xfrm>
          <a:prstGeom prst="roundRect">
            <a:avLst>
              <a:gd name="adj" fmla="val 50000"/>
            </a:avLst>
          </a:prstGeom>
          <a:solidFill>
            <a:srgbClr val="7C3D00"/>
          </a:solidFill>
          <a:ln/>
        </p:spPr>
      </p:sp>
      <p:sp>
        <p:nvSpPr>
          <p:cNvPr id="11" name="Text 9"/>
          <p:cNvSpPr/>
          <p:nvPr/>
        </p:nvSpPr>
        <p:spPr>
          <a:xfrm>
            <a:off x="6199632" y="1371600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Iterator Class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99632" y="1828800"/>
            <a:ext cx="5394960" cy="3883457"/>
          </a:xfrm>
          <a:prstGeom prst="roundRect">
            <a:avLst>
              <a:gd name="adj" fmla="val 1648"/>
            </a:avLst>
          </a:prstGeom>
          <a:solidFill>
            <a:srgbClr val="13213A"/>
          </a:solidFill>
          <a:ln/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00800" y="1993392"/>
            <a:ext cx="4992624" cy="3554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CountUp: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__init__(self, start, end):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self.current = start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self.end     = end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__iter__(self):   # make it iterable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self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__next__(self):   # one value at a time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self.current &gt; self.end: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raise StopIteration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val = self.current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self.current += 1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val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n in CountUp(1, 5):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print(n, end=' ')   # 1 2 3 4 5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" y="6528816"/>
            <a:ext cx="9601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Advanced &amp; Revision  ·  Talent Shine — LBRC Technical Training Programme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475720" y="6528816"/>
            <a:ext cx="365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GENERATORS · CONCEPT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109728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Generators — yield Keyword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5440680" cy="2377440"/>
          </a:xfrm>
          <a:prstGeom prst="roundRect">
            <a:avLst>
              <a:gd name="adj" fmla="val 3077"/>
            </a:avLst>
          </a:prstGeom>
          <a:solidFill>
            <a:srgbClr val="F5F7FB"/>
          </a:solidFill>
          <a:ln/>
        </p:spPr>
      </p:sp>
      <p:sp>
        <p:nvSpPr>
          <p:cNvPr id="5" name="Text 3"/>
          <p:cNvSpPr/>
          <p:nvPr/>
        </p:nvSpPr>
        <p:spPr>
          <a:xfrm>
            <a:off x="795528" y="1609344"/>
            <a:ext cx="4855464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900"/>
              </a:spcAft>
              <a:buSzPct val="100000"/>
              <a:buChar char="▸"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generator function uses yield instead of return.</a:t>
            </a:r>
            <a:endParaRPr lang="en-US" sz="1350" dirty="0"/>
          </a:p>
          <a:p>
            <a:pPr marL="342900" indent="-342900">
              <a:lnSpc>
                <a:spcPct val="110000"/>
              </a:lnSpc>
              <a:spcAft>
                <a:spcPts val="900"/>
              </a:spcAft>
              <a:buSzPct val="100000"/>
              <a:buChar char="▸"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call to next() runs the function until the next yield, then pauses — preserving local state.</a:t>
            </a:r>
            <a:endParaRPr lang="en-US" sz="1350" dirty="0"/>
          </a:p>
          <a:p>
            <a:pPr marL="342900" indent="-342900">
              <a:lnSpc>
                <a:spcPct val="110000"/>
              </a:lnSpc>
              <a:spcAft>
                <a:spcPts val="900"/>
              </a:spcAft>
              <a:buSzPct val="100000"/>
              <a:buChar char="▸"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Generators produce values lazily — memory-efficient for large or infinite sequences.</a:t>
            </a:r>
            <a:endParaRPr lang="en-US" sz="1350" dirty="0"/>
          </a:p>
          <a:p>
            <a:pPr marL="342900" indent="-342900">
              <a:lnSpc>
                <a:spcPct val="110000"/>
              </a:lnSpc>
              <a:spcAft>
                <a:spcPts val="900"/>
              </a:spcAft>
              <a:buSzPct val="100000"/>
              <a:buChar char="▸"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return inside a generator raises StopIteration automatically.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02920" y="3913632"/>
            <a:ext cx="5440680" cy="384048"/>
          </a:xfrm>
          <a:prstGeom prst="roundRect">
            <a:avLst>
              <a:gd name="adj" fmla="val 50000"/>
            </a:avLst>
          </a:prstGeom>
          <a:solidFill>
            <a:srgbClr val="7C3D00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3913632"/>
            <a:ext cx="5440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Generator vs Regular Function</a:t>
            </a:r>
            <a:endParaRPr lang="en-US" sz="1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4370832"/>
          <a:ext cx="544068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828800"/>
                <a:gridCol w="196596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D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Regular Function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D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Generator Function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D0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7C3D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Keyword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6B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6B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yield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7C3D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Execution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F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6B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Runs fully, returns once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F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6B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Pauses at each yield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FF6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7C3D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6B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Discarded after return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6B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Preserved between yields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7C3D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F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6B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Stores all values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F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6B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value at a time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FF6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7C3D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for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6B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Short computations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6B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Large/infinite sequences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6199632" y="1371600"/>
            <a:ext cx="5394960" cy="384048"/>
          </a:xfrm>
          <a:prstGeom prst="roundRect">
            <a:avLst>
              <a:gd name="adj" fmla="val 50000"/>
            </a:avLst>
          </a:prstGeom>
          <a:solidFill>
            <a:srgbClr val="7C3D00"/>
          </a:solidFill>
          <a:ln/>
        </p:spPr>
      </p:sp>
      <p:sp>
        <p:nvSpPr>
          <p:cNvPr id="10" name="Text 7"/>
          <p:cNvSpPr/>
          <p:nvPr/>
        </p:nvSpPr>
        <p:spPr>
          <a:xfrm>
            <a:off x="6199632" y="1371600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Generator Function Examples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199632" y="1828800"/>
            <a:ext cx="5394960" cy="4272991"/>
          </a:xfrm>
          <a:prstGeom prst="roundRect">
            <a:avLst>
              <a:gd name="adj" fmla="val 1498"/>
            </a:avLst>
          </a:prstGeom>
          <a:solidFill>
            <a:srgbClr val="13213A"/>
          </a:solidFill>
          <a:ln/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400800" y="1993392"/>
            <a:ext cx="4992624" cy="39438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AA0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Simple generator — yield squares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squares(n):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i in range(1, n+1):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yield i**2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sq in squares(5):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print(sq, end=' ')  # 1 4 9 16 25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AA0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Infinite counter (never ends naturally)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count_forever(start=0):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 = start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while True: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yield 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 += 1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 = count_forever(1)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print(next(gen))  # 1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print(next(gen))  # 2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print(next(gen))  # 3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02920" y="6528816"/>
            <a:ext cx="9601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Advanced &amp; Revision  ·  Talent Shine — LBRC Technical Training Programme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475720" y="6528816"/>
            <a:ext cx="365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11B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548640"/>
            <a:ext cx="3840480" cy="3840480"/>
          </a:xfrm>
          <a:prstGeom prst="ellipse">
            <a:avLst/>
          </a:prstGeom>
          <a:solidFill>
            <a:srgbClr val="1A2C50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572000"/>
            <a:ext cx="2377440" cy="2377440"/>
          </a:xfrm>
          <a:prstGeom prst="ellipse">
            <a:avLst/>
          </a:prstGeom>
          <a:solidFill>
            <a:srgbClr val="024A4A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2194560"/>
            <a:ext cx="914400" cy="914400"/>
          </a:xfrm>
          <a:prstGeom prst="roundRect">
            <a:avLst>
              <a:gd name="adj" fmla="val 8000"/>
            </a:avLst>
          </a:prstGeom>
          <a:solidFill>
            <a:srgbClr val="024A4A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1945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600200" y="2212848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89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600200" y="2578608"/>
            <a:ext cx="9875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*args &amp; **kwargs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1600200" y="3886200"/>
            <a:ext cx="9326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B7C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functions that accept any number of arguments — positional or keyword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*ARGS · CONCEPT &amp; EXAMPLES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109728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*args — Variable Positional Arguments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5440680" cy="2194560"/>
          </a:xfrm>
          <a:prstGeom prst="roundRect">
            <a:avLst>
              <a:gd name="adj" fmla="val 3333"/>
            </a:avLst>
          </a:prstGeom>
          <a:solidFill>
            <a:srgbClr val="F5F7FB"/>
          </a:solidFill>
          <a:ln/>
        </p:spPr>
      </p:sp>
      <p:sp>
        <p:nvSpPr>
          <p:cNvPr id="5" name="Text 3"/>
          <p:cNvSpPr/>
          <p:nvPr/>
        </p:nvSpPr>
        <p:spPr>
          <a:xfrm>
            <a:off x="795528" y="1609344"/>
            <a:ext cx="4855464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900"/>
              </a:spcAft>
              <a:buSzPct val="100000"/>
              <a:buChar char="▸"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*args lets a function accept any number of positional arguments.</a:t>
            </a:r>
            <a:endParaRPr lang="en-US" sz="1350" dirty="0"/>
          </a:p>
          <a:p>
            <a:pPr marL="342900" indent="-342900">
              <a:lnSpc>
                <a:spcPct val="110000"/>
              </a:lnSpc>
              <a:spcAft>
                <a:spcPts val="900"/>
              </a:spcAft>
              <a:buSzPct val="100000"/>
              <a:buChar char="▸"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the function, args is a tuple containing all extra positional values.</a:t>
            </a:r>
            <a:endParaRPr lang="en-US" sz="1350" dirty="0"/>
          </a:p>
          <a:p>
            <a:pPr marL="342900" indent="-342900">
              <a:lnSpc>
                <a:spcPct val="110000"/>
              </a:lnSpc>
              <a:spcAft>
                <a:spcPts val="900"/>
              </a:spcAft>
              <a:buSzPct val="100000"/>
              <a:buChar char="▸"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name args is a convention — the * is what matters.</a:t>
            </a:r>
            <a:endParaRPr lang="en-US" sz="1350" dirty="0"/>
          </a:p>
          <a:p>
            <a:pPr marL="342900" indent="-342900">
              <a:lnSpc>
                <a:spcPct val="110000"/>
              </a:lnSpc>
              <a:spcAft>
                <a:spcPts val="900"/>
              </a:spcAft>
              <a:buSzPct val="100000"/>
              <a:buChar char="▸"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mix normal parameters before *args, but not after without **kwargs.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02920" y="3730752"/>
            <a:ext cx="5440680" cy="384048"/>
          </a:xfrm>
          <a:prstGeom prst="roundRect">
            <a:avLst>
              <a:gd name="adj" fmla="val 50000"/>
            </a:avLst>
          </a:prstGeom>
          <a:solidFill>
            <a:srgbClr val="024A4A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3730752"/>
            <a:ext cx="5440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*args Examples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4187952"/>
            <a:ext cx="5440680" cy="3411626"/>
          </a:xfrm>
          <a:prstGeom prst="roundRect">
            <a:avLst>
              <a:gd name="adj" fmla="val 1876"/>
            </a:avLst>
          </a:prstGeom>
          <a:solidFill>
            <a:srgbClr val="13213A"/>
          </a:solidFill>
          <a:ln/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04088" y="4352544"/>
            <a:ext cx="5038344" cy="3082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total(*args):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sum(args)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print(total(1, 2))          # 3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print(total(1, 2, 3, 4, 5)) # 15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greet(greeting, *names):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name in names: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print(f'{greeting}, {name}!')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greet('Hello','Asha','Ravi','Dev')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8AA0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Hello, Asha!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8AA0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Hello, Ravi!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8AA0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Hello, Dev!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99632" y="1371600"/>
            <a:ext cx="5394960" cy="384048"/>
          </a:xfrm>
          <a:prstGeom prst="roundRect">
            <a:avLst>
              <a:gd name="adj" fmla="val 50000"/>
            </a:avLst>
          </a:prstGeom>
          <a:solidFill>
            <a:srgbClr val="024A4A"/>
          </a:solidFill>
          <a:ln/>
        </p:spPr>
      </p:sp>
      <p:sp>
        <p:nvSpPr>
          <p:cNvPr id="11" name="Text 9"/>
          <p:cNvSpPr/>
          <p:nvPr/>
        </p:nvSpPr>
        <p:spPr>
          <a:xfrm>
            <a:off x="6199632" y="1371600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**kwargs — Variable Keyword Arguments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99632" y="1828800"/>
            <a:ext cx="5394960" cy="1554480"/>
          </a:xfrm>
          <a:prstGeom prst="roundRect">
            <a:avLst>
              <a:gd name="adj" fmla="val 4706"/>
            </a:avLst>
          </a:prstGeom>
          <a:solidFill>
            <a:srgbClr val="F5F7FB"/>
          </a:solidFill>
          <a:ln/>
        </p:spPr>
      </p:sp>
      <p:sp>
        <p:nvSpPr>
          <p:cNvPr id="13" name="Text 11"/>
          <p:cNvSpPr/>
          <p:nvPr/>
        </p:nvSpPr>
        <p:spPr>
          <a:xfrm>
            <a:off x="6492240" y="2066544"/>
            <a:ext cx="4809744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900"/>
              </a:spcAft>
              <a:buSzPct val="100000"/>
              <a:buChar char="▸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**kwargs collects any number of keyword arguments as a dictionary.</a:t>
            </a:r>
            <a:endParaRPr lang="en-US" sz="1300" dirty="0"/>
          </a:p>
          <a:p>
            <a:pPr marL="342900" indent="-342900">
              <a:lnSpc>
                <a:spcPct val="110000"/>
              </a:lnSpc>
              <a:spcAft>
                <a:spcPts val="900"/>
              </a:spcAft>
              <a:buSzPct val="100000"/>
              <a:buChar char="▸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name kwargs is convention — the ** is what matters.</a:t>
            </a:r>
            <a:endParaRPr lang="en-US" sz="1300" dirty="0"/>
          </a:p>
          <a:p>
            <a:pPr marL="342900" indent="-342900">
              <a:lnSpc>
                <a:spcPct val="110000"/>
              </a:lnSpc>
              <a:spcAft>
                <a:spcPts val="900"/>
              </a:spcAft>
              <a:buSzPct val="100000"/>
              <a:buChar char="▸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when you want named options without listing every parameter.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199632" y="3520440"/>
            <a:ext cx="5394960" cy="3687775"/>
          </a:xfrm>
          <a:prstGeom prst="roundRect">
            <a:avLst>
              <a:gd name="adj" fmla="val 1736"/>
            </a:avLst>
          </a:prstGeom>
          <a:solidFill>
            <a:srgbClr val="13213A"/>
          </a:solidFill>
          <a:ln/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00800" y="3685032"/>
            <a:ext cx="4992624" cy="3358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show_info(**kwargs):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key, val in kwargs.items():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print(f'{key}: {val}')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show_info(name='Asha', age=21, city='Chennai')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AA0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name: Asha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AA0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age: 21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AA0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city: Chennai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AA0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Mix: normal + *args + **kwargs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demo(a, b, *args, **kwargs):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print('a:', a, 'b:', b)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print('extra args:', args)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print('kwargs:', kwargs)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demo(1, 2, 3, 4, x=10, y=20)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" y="6528816"/>
            <a:ext cx="9601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Advanced &amp; Revision  ·  Talent Shine — LBRC Technical Training Programme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475720" y="6528816"/>
            <a:ext cx="365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*ARGS &amp; **KWARGS · PARAMETER ORDER &amp; UNPACKING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109728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Correct Parameter Order &amp; Unpacking at Call Time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5440680" cy="384048"/>
          </a:xfrm>
          <a:prstGeom prst="roundRect">
            <a:avLst>
              <a:gd name="adj" fmla="val 50000"/>
            </a:avLst>
          </a:prstGeom>
          <a:solidFill>
            <a:srgbClr val="024A4A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371600"/>
            <a:ext cx="5440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 Order of Parameters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1828800"/>
            <a:ext cx="5440680" cy="3005633"/>
          </a:xfrm>
          <a:prstGeom prst="roundRect">
            <a:avLst>
              <a:gd name="adj" fmla="val 2130"/>
            </a:avLst>
          </a:prstGeom>
          <a:solidFill>
            <a:srgbClr val="13213A"/>
          </a:solidFill>
          <a:ln/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04088" y="1993392"/>
            <a:ext cx="5038344" cy="26764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AA0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CORRECT ORDER: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8AA0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def fn(positional, *args, keyword_only, **kwargs)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fn(a, b=10, *args, kw=0, **kwargs):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print(a, b, args, kw, kwargs)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fn(1)                         # 1 10 () 0 {}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fn(1, 2, 3, 4, kw=5, x=9)    # 1 2 (3,4) 5 {'x':9}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8AA0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WRONG — SyntaxError: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8AA0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def fn(*args, b):  ... (b after *args = keyword-only OK)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8AA0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def fn(**kwargs, x): ... (nothing after **kwargs)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99632" y="1371600"/>
            <a:ext cx="5394960" cy="384048"/>
          </a:xfrm>
          <a:prstGeom prst="roundRect">
            <a:avLst>
              <a:gd name="adj" fmla="val 50000"/>
            </a:avLst>
          </a:prstGeom>
          <a:solidFill>
            <a:srgbClr val="2C4170"/>
          </a:solidFill>
          <a:ln/>
        </p:spPr>
      </p:sp>
      <p:sp>
        <p:nvSpPr>
          <p:cNvPr id="9" name="Text 7"/>
          <p:cNvSpPr/>
          <p:nvPr/>
        </p:nvSpPr>
        <p:spPr>
          <a:xfrm>
            <a:off x="6199632" y="1371600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Unpacking * and ** at Call Time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99632" y="1828800"/>
            <a:ext cx="5394960" cy="3883457"/>
          </a:xfrm>
          <a:prstGeom prst="roundRect">
            <a:avLst>
              <a:gd name="adj" fmla="val 1648"/>
            </a:avLst>
          </a:prstGeom>
          <a:solidFill>
            <a:srgbClr val="13213A"/>
          </a:solidFill>
          <a:ln/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00800" y="1993392"/>
            <a:ext cx="4992624" cy="3554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AA0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Unpack list/tuple with * at the call site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add(a, b, c):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a + b + c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nums = [1, 2, 3]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print(add(*nums))        # 6  (same as add(1,2,3))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AA0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Unpack dict with ** at the call site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greet(name, city):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print(f'{name} from {city}')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info = {'name':'Asha', 'city':'Chennai'}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greet(**info)  # Asha from Chennai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AA0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Useful for merging dicts (Python 3.9+)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d1 = {'a':1}; d2 = {'b':2}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merged = {**d1, **d2}  # {'a':1,'b':2}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6528816"/>
            <a:ext cx="9601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Advanced &amp; Revision  ·  Talent Shine — LBRC Technical Training Programme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475720" y="6528816"/>
            <a:ext cx="365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11B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548640"/>
            <a:ext cx="3840480" cy="3840480"/>
          </a:xfrm>
          <a:prstGeom prst="ellipse">
            <a:avLst/>
          </a:prstGeom>
          <a:solidFill>
            <a:srgbClr val="1A2C50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572000"/>
            <a:ext cx="2377440" cy="2377440"/>
          </a:xfrm>
          <a:prstGeom prst="ellipse">
            <a:avLst/>
          </a:prstGeom>
          <a:solidFill>
            <a:srgbClr val="024A4A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2194560"/>
            <a:ext cx="914400" cy="914400"/>
          </a:xfrm>
          <a:prstGeom prst="roundRect">
            <a:avLst>
              <a:gd name="adj" fmla="val 8000"/>
            </a:avLst>
          </a:prstGeom>
          <a:solidFill>
            <a:srgbClr val="024A4A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1945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600200" y="2212848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89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600200" y="2578608"/>
            <a:ext cx="9875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Revision Programs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1600200" y="3886200"/>
            <a:ext cx="9326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B7C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complete solved programs covering every advanced concept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REVISION  ·  PROGRAM 1 OF 12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109728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Flatten List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11183112" cy="438912"/>
          </a:xfrm>
          <a:prstGeom prst="roundRect">
            <a:avLst>
              <a:gd name="adj" fmla="val 12500"/>
            </a:avLst>
          </a:prstGeom>
          <a:solidFill>
            <a:srgbClr val="EBEFF6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1234440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2C4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a nested 2-D list into a single flat list using list comprehension.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02920" y="1828800"/>
            <a:ext cx="5623560" cy="4078224"/>
          </a:xfrm>
          <a:prstGeom prst="roundRect">
            <a:avLst>
              <a:gd name="adj" fmla="val 1570"/>
            </a:avLst>
          </a:prstGeom>
          <a:solidFill>
            <a:srgbClr val="13213A"/>
          </a:solidFill>
          <a:ln/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04088" y="1993392"/>
            <a:ext cx="5221224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nested = [[1,2,3],[4,5],[6,7,8,9]]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8AA0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Method 1: List comprehension (recommended)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flat = [item for row in nested for item in row]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print('Flat:', flat)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8AA0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Method 2: Traditional loop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flat2 = []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row in nested: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item in row: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flat2.append(item)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8AA0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Method 3: sum() trick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flat3 = sum(nested, [])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print(flat)   # [1, 2, 3, 4, 5, 6, 7, 8, 9]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0" y="1828800"/>
            <a:ext cx="5239512" cy="384048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0" y="1828800"/>
            <a:ext cx="5239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Cases</a:t>
            </a:r>
            <a:endParaRPr lang="en-US" sz="12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2304288"/>
          <a:ext cx="5239512" cy="914400"/>
        </p:xfrm>
        <a:graphic>
          <a:graphicData uri="http://schemas.openxmlformats.org/drawingml/2006/table">
            <a:tbl>
              <a:tblPr/>
              <a:tblGrid>
                <a:gridCol w="890717"/>
                <a:gridCol w="2174397"/>
                <a:gridCol w="2174397"/>
              </a:tblGrid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Output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8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[[1,2],[3,4],[5]]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8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[1, 2, 3, 4, 5]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F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8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[[]] (one empty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8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inner list)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F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8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[]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FF6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8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[[1]] (single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8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element lists)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8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[1]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Hidden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F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8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[[1,2],[],[3,4]]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F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8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[1, 2, 3, 4]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FF6"/>
                    </a:solidFill>
                  </a:tcPr>
                </a:tc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502920" y="6528816"/>
            <a:ext cx="9601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Advanced &amp; Revision  ·  Talent Shine — LBRC Technical Training Programme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475720" y="6528816"/>
            <a:ext cx="365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REVISION  ·  PROGRAM 2 OF 12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109728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Matrix Transpose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11183112" cy="438912"/>
          </a:xfrm>
          <a:prstGeom prst="roundRect">
            <a:avLst>
              <a:gd name="adj" fmla="val 12500"/>
            </a:avLst>
          </a:prstGeom>
          <a:solidFill>
            <a:srgbClr val="EBEFF6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1234440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2C4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rows and columns of a 2-D matrix using nested list comprehension.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02920" y="1828800"/>
            <a:ext cx="5623560" cy="4370832"/>
          </a:xfrm>
          <a:prstGeom prst="roundRect">
            <a:avLst>
              <a:gd name="adj" fmla="val 1464"/>
            </a:avLst>
          </a:prstGeom>
          <a:solidFill>
            <a:srgbClr val="13213A"/>
          </a:solidFill>
          <a:ln/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04088" y="1993392"/>
            <a:ext cx="5221224" cy="4041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AA0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Input matrix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matrix = [[1,2,3],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[4,5,6],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[7,8,9]]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AA0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Method 1: Nested comprehension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transpose = [[matrix[row][col]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for row in range(len(matrix))]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for col in range(len(matrix[0]))]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AA0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Method 2: zip(*matrix) — Pythonic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transpose2 = [list(row) for row in zip(*matrix)]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row in transpose: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print(row)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AA0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[1, 4, 7]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AA0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[2, 5, 8]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AA0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[3, 6, 9]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0" y="1828800"/>
            <a:ext cx="5239512" cy="384048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0" y="1828800"/>
            <a:ext cx="5239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Cases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2304288"/>
          <a:ext cx="5239512" cy="914400"/>
        </p:xfrm>
        <a:graphic>
          <a:graphicData uri="http://schemas.openxmlformats.org/drawingml/2006/table">
            <a:tbl>
              <a:tblPr/>
              <a:tblGrid>
                <a:gridCol w="890717"/>
                <a:gridCol w="2174397"/>
                <a:gridCol w="2174397"/>
              </a:tblGrid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Output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8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3x3 matrix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8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[[1,2,3],[4,5,6],[7,8,9]]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8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[[1,4,7],[2,5,8],[3,6,9]]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F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8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1x1 matrix [[5]]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F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8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[[5]]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FF6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8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1x3 matrix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8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[[1,2,3]]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8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3x1: [[1],[2],[3]]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Hidden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F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8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2x3 (non-square)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8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[[1,2,3],[4,5,6]]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F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8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3x2: [[1,4],[2,5],[3,6]]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FF6"/>
                    </a:solidFill>
                  </a:tcPr>
                </a:tc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502920" y="6528816"/>
            <a:ext cx="9601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Advanced &amp; Revision  ·  Talent Shine — LBRC Technical Training Programme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475720" y="6528816"/>
            <a:ext cx="365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REVISION  ·  PROGRAM 3 OF 12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109728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Word Frequency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11183112" cy="438912"/>
          </a:xfrm>
          <a:prstGeom prst="roundRect">
            <a:avLst>
              <a:gd name="adj" fmla="val 12500"/>
            </a:avLst>
          </a:prstGeom>
          <a:solidFill>
            <a:srgbClr val="EBEFF6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1234440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2C4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occurrences of each word using dict comprehension and get().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02920" y="1828800"/>
            <a:ext cx="5623560" cy="3948379"/>
          </a:xfrm>
          <a:prstGeom prst="roundRect">
            <a:avLst>
              <a:gd name="adj" fmla="val 1621"/>
            </a:avLst>
          </a:prstGeom>
          <a:solidFill>
            <a:srgbClr val="13213A"/>
          </a:solidFill>
          <a:ln/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04088" y="1993392"/>
            <a:ext cx="5221224" cy="36191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sentence = input('Enter a sentence: ').lower()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words = sentence.split()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AA0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Method 1: dict.get()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freq = {}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word in words: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freq[word] = freq.get(word, 0) + 1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AA0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Method 2: dict comprehension + count()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freq2 = {w: words.count(w) for w in set(words)}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AA0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Display sorted by frequency (high to low)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word, count in sorted(freq.items(),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key=lambda x: x[1],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reverse=True):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print(f'  {word:15} : {count}')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0" y="1828800"/>
            <a:ext cx="5239512" cy="384048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0" y="1828800"/>
            <a:ext cx="5239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Cases</a:t>
            </a:r>
            <a:endParaRPr lang="en-US" sz="12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2304288"/>
          <a:ext cx="5239512" cy="914400"/>
        </p:xfrm>
        <a:graphic>
          <a:graphicData uri="http://schemas.openxmlformats.org/drawingml/2006/table">
            <a:tbl>
              <a:tblPr/>
              <a:tblGrid>
                <a:gridCol w="890717"/>
                <a:gridCol w="2174397"/>
                <a:gridCol w="2174397"/>
              </a:tblGrid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Output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8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"to be or not to be"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8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to:2  be:2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8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or:1  not:1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F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8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single word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8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"hello"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F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8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hello: 1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FF6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8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all same words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8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"a a a a"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8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a: 4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Hidden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F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8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"Hello hello HELLO"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8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(after .lower())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F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8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hello: 3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FF6"/>
                    </a:solidFill>
                  </a:tcPr>
                </a:tc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502920" y="6528816"/>
            <a:ext cx="9601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Advanced &amp; Revision  ·  Talent Shine — LBRC Technical Training Programme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475720" y="6528816"/>
            <a:ext cx="365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REVISION  ·  PROGRAM 4 OF 12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109728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Remove Duplicates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11183112" cy="438912"/>
          </a:xfrm>
          <a:prstGeom prst="roundRect">
            <a:avLst>
              <a:gd name="adj" fmla="val 12500"/>
            </a:avLst>
          </a:prstGeom>
          <a:solidFill>
            <a:srgbClr val="EBEFF6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1234440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2C4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duplicate items from a list while preserving the original order.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02920" y="1828800"/>
            <a:ext cx="5623560" cy="3948379"/>
          </a:xfrm>
          <a:prstGeom prst="roundRect">
            <a:avLst>
              <a:gd name="adj" fmla="val 1621"/>
            </a:avLst>
          </a:prstGeom>
          <a:solidFill>
            <a:srgbClr val="13213A"/>
          </a:solidFill>
          <a:ln/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04088" y="1993392"/>
            <a:ext cx="5221224" cy="36191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nums = [3,1,4,1,5,9,2,6,5,3,5,9]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AA0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Method 1: set() — fast but loses order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unique_unordered = list(set(nums))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print('Unordered:', unique_unordered)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AA0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Method 2: dict.fromkeys() — preserves order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unique_ordered = list(dict.fromkeys(nums))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print('Ordered:', unique_ordered)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AA0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[3, 1, 4, 5, 9, 2, 6]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AA0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Method 3: Comprehension with seen set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seen = set()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unique3 = [x for x in nums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if not (x in seen or seen.add(x))]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print('Comprehension:', unique3)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0" y="1828800"/>
            <a:ext cx="5239512" cy="384048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0" y="1828800"/>
            <a:ext cx="5239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Cases</a:t>
            </a:r>
            <a:endParaRPr lang="en-US" sz="12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2304288"/>
          <a:ext cx="5239512" cy="914400"/>
        </p:xfrm>
        <a:graphic>
          <a:graphicData uri="http://schemas.openxmlformats.org/drawingml/2006/table">
            <a:tbl>
              <a:tblPr/>
              <a:tblGrid>
                <a:gridCol w="890717"/>
                <a:gridCol w="2174397"/>
                <a:gridCol w="2174397"/>
              </a:tblGrid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Output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8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[3,1,4,1,5,9,2,6,5,3]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8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[3,1,4,5,9,2,6]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8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(order preserved)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F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8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[] empty list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F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8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[]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FF6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8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all same: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8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[5,5,5,5]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8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[5]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Hidden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F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8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all unique: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8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[1,2,3,4,5]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F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8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[1,2,3,4,5]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8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(unchanged)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FF6"/>
                    </a:solidFill>
                  </a:tcPr>
                </a:tc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502920" y="6528816"/>
            <a:ext cx="9601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Advanced &amp; Revision  ·  Talent Shine — LBRC Technical Training Programme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475720" y="6528816"/>
            <a:ext cx="365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REVISION  ·  PROGRAM 5 OF 12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109728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Merge Dictionaries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11183112" cy="438912"/>
          </a:xfrm>
          <a:prstGeom prst="roundRect">
            <a:avLst>
              <a:gd name="adj" fmla="val 12500"/>
            </a:avLst>
          </a:prstGeom>
          <a:solidFill>
            <a:srgbClr val="EBEFF6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1234440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2C4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two or more dictionaries, handling key conflicts cleanly.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02920" y="1828800"/>
            <a:ext cx="5623560" cy="4492447"/>
          </a:xfrm>
          <a:prstGeom prst="roundRect">
            <a:avLst>
              <a:gd name="adj" fmla="val 1425"/>
            </a:avLst>
          </a:prstGeom>
          <a:solidFill>
            <a:srgbClr val="13213A"/>
          </a:solidFill>
          <a:ln/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04088" y="1993392"/>
            <a:ext cx="5221224" cy="4163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d1 = {'a':1, 'b':2, 'c':3}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d2 = {'b':20, 'c':30, 'd':4}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8AA0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Method 1: update() — d2 overwrites d1 conflicts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merged = d1.copy()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merged.update(d2)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print(merged)  # {'a':1,'b':20,'c':30,'d':4}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8AA0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Method 2: ** unpacking (Python 3.5+)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merged2 = {**d1, **d2}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print(merged2) # {'a':1,'b':20,'c':30,'d':4}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8AA0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Method 3: | operator (Python 3.9+)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merged3 = d1 | d2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8AA0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Method 4: Keep ALL values (list per key)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collections import defaultdict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merged4 = defaultdict(list)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d in [d1, d2]: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k, v in d.items():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merged4[k].append(v)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0800" y="1828800"/>
            <a:ext cx="5239512" cy="384048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0" y="1828800"/>
            <a:ext cx="5239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Cases</a:t>
            </a:r>
            <a:endParaRPr lang="en-US" sz="12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2304288"/>
          <a:ext cx="5239512" cy="914400"/>
        </p:xfrm>
        <a:graphic>
          <a:graphicData uri="http://schemas.openxmlformats.org/drawingml/2006/table">
            <a:tbl>
              <a:tblPr/>
              <a:tblGrid>
                <a:gridCol w="890717"/>
                <a:gridCol w="2174397"/>
                <a:gridCol w="2174397"/>
              </a:tblGrid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Output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8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d1={'a':1,'b':2}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8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d2={'b':20,'c':3}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8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{'a':1,'b':20,'c':3}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F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8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d1={}, d2={'x':1}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F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8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{'x': 1}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FF6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8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no overlapping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8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keys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8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All keys merged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8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no conflicts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Hidden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F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8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same key, same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8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value in both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F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8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Value appears once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8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(no duplication)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FF6"/>
                    </a:solidFill>
                  </a:tcPr>
                </a:tc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502920" y="6528816"/>
            <a:ext cx="9601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Advanced &amp; Revision  ·  Talent Shine — LBRC Technical Training Programme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475720" y="6528816"/>
            <a:ext cx="365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REVISION  ·  PROGRAM 6 OF 12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109728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Sort Dictionary by Value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11183112" cy="438912"/>
          </a:xfrm>
          <a:prstGeom prst="roundRect">
            <a:avLst>
              <a:gd name="adj" fmla="val 12500"/>
            </a:avLst>
          </a:prstGeom>
          <a:solidFill>
            <a:srgbClr val="EBEFF6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1234440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2C4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a dictionary by its values — ascending and descending.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02920" y="1828800"/>
            <a:ext cx="5623560" cy="4159606"/>
          </a:xfrm>
          <a:prstGeom prst="roundRect">
            <a:avLst>
              <a:gd name="adj" fmla="val 1539"/>
            </a:avLst>
          </a:prstGeom>
          <a:solidFill>
            <a:srgbClr val="13213A"/>
          </a:solidFill>
          <a:ln/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04088" y="1993392"/>
            <a:ext cx="5221224" cy="38304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scores = {'Asha':88, 'Ravi':45, 'Dev':92,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'Mia':71, 'Tom':60}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AA0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Sort ascending by value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asc = dict(sorted(scores.items(),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key=lambda x: x[1]))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print('Ascending:')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name, score in asc.items():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print(f'  {name}: {score}')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AA0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Sort descending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 = dict(sorted(scores.items(),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key=lambda x: x[1],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reverse=True))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print('Descending:')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name, score in desc.items():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print(f'  {name}: {score}')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0" y="1828800"/>
            <a:ext cx="5239512" cy="384048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0" y="1828800"/>
            <a:ext cx="5239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Cases</a:t>
            </a:r>
            <a:endParaRPr lang="en-US" sz="12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2304288"/>
          <a:ext cx="5239512" cy="914400"/>
        </p:xfrm>
        <a:graphic>
          <a:graphicData uri="http://schemas.openxmlformats.org/drawingml/2006/table">
            <a:tbl>
              <a:tblPr/>
              <a:tblGrid>
                <a:gridCol w="890717"/>
                <a:gridCol w="2174397"/>
                <a:gridCol w="2174397"/>
              </a:tblGrid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Output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8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{'Asha':88,'Ravi':45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8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'Dev':92}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8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Asc: Ravi→Asha→Dev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8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Desc: Dev→Asha→Ravi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F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8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one item: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8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{'A':5}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F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8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{'A': 5}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8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(unchanged)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FF6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8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all same values: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8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{'a':1,'b':1,'c':1}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8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Order depends on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8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original insertion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Hidden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F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8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negative values: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8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{'a':-1,'b':0,'c':1}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F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8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Asc: a→b→c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FF6"/>
                    </a:solidFill>
                  </a:tcPr>
                </a:tc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502920" y="6528816"/>
            <a:ext cx="9601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Advanced &amp; Revision  ·  Talent Shine — LBRC Technical Training Programme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475720" y="6528816"/>
            <a:ext cx="365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REVISION  ·  PROGRAM 7 OF 12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109728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Most Frequent Element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11183112" cy="438912"/>
          </a:xfrm>
          <a:prstGeom prst="roundRect">
            <a:avLst>
              <a:gd name="adj" fmla="val 12500"/>
            </a:avLst>
          </a:prstGeom>
          <a:solidFill>
            <a:srgbClr val="EBEFF6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1234440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2C4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element that appears most often using dict frequency count.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02920" y="1828800"/>
            <a:ext cx="5623560" cy="3948379"/>
          </a:xfrm>
          <a:prstGeom prst="roundRect">
            <a:avLst>
              <a:gd name="adj" fmla="val 1621"/>
            </a:avLst>
          </a:prstGeom>
          <a:solidFill>
            <a:srgbClr val="13213A"/>
          </a:solidFill>
          <a:ln/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04088" y="1993392"/>
            <a:ext cx="5221224" cy="36191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nums = list(map(int, input('Enter numbers: ').split()))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AA0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Build frequency dict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freq = {}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n in nums: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freq[n] = freq.get(n, 0) + 1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AA0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Find element with max frequency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max_elem  = max(freq, key=freq.get)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max_count = freq[max_elem]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print(f'Most frequent: {max_elem} (appears {max_count} times)')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AA0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Bonus: all elements tied for max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top_count = max(freq.values())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top_all = [k for k,v in freq.items() if v == top_count]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print('All top elements:', top_all)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0" y="1828800"/>
            <a:ext cx="5239512" cy="384048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0" y="1828800"/>
            <a:ext cx="5239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Cases</a:t>
            </a:r>
            <a:endParaRPr lang="en-US" sz="12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2304288"/>
          <a:ext cx="5239512" cy="914400"/>
        </p:xfrm>
        <a:graphic>
          <a:graphicData uri="http://schemas.openxmlformats.org/drawingml/2006/table">
            <a:tbl>
              <a:tblPr/>
              <a:tblGrid>
                <a:gridCol w="890717"/>
                <a:gridCol w="2174397"/>
                <a:gridCol w="2174397"/>
              </a:tblGrid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Output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8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1 2 2 3 3 3 4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8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Most frequent: 3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8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(appears 3 times)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F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8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single element: 7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F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8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Most frequent: 7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8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(appears 1 time)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FF6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8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all unique: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8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1 2 3 4 5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8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First element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8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returned (tied)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Hidden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F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8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tie: 1 1 2 2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F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8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top_all: [1, 2]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8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both shown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FF6"/>
                    </a:solidFill>
                  </a:tcPr>
                </a:tc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502920" y="6528816"/>
            <a:ext cx="9601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Advanced &amp; Revision  ·  Talent Shine — LBRC Technical Training Programme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475720" y="6528816"/>
            <a:ext cx="365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REVISION  ·  PROGRAM 8 OF 12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109728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Nested List Traversal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11183112" cy="438912"/>
          </a:xfrm>
          <a:prstGeom prst="roundRect">
            <a:avLst>
              <a:gd name="adj" fmla="val 12500"/>
            </a:avLst>
          </a:prstGeom>
          <a:solidFill>
            <a:srgbClr val="EBEFF6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1234440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2C4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Traverse a nested list of any depth and print all elements.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02920" y="1828800"/>
            <a:ext cx="5623560" cy="4663440"/>
          </a:xfrm>
          <a:prstGeom prst="roundRect">
            <a:avLst>
              <a:gd name="adj" fmla="val 1373"/>
            </a:avLst>
          </a:prstGeom>
          <a:solidFill>
            <a:srgbClr val="13213A"/>
          </a:solidFill>
          <a:ln/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04088" y="1993392"/>
            <a:ext cx="5221224" cy="4334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AA0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Method 1: Two-level loop (fixed 2-D)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matrix = [[1,2,3],[4,5,6],[7,8,9]]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row in matrix: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item in row: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print(item, end=' ')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print()  # 1 2 3 4 5 6 7 8 9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AA0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Method 2: List comprehension flatten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flat = [item for row in matrix for item in row]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print(flat)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AA0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Method 3: Recursive — any depth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traverse(lst):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item in lst: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isinstance(item, list):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traverse(item)   # go deeper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else: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print(item, end=' ')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deep = [[1,[2,3]],[4,[5,[6,7]]],8]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traverse(deep)  # 1 2 3 4 5 6 7 8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0" y="1828800"/>
            <a:ext cx="5239512" cy="384048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0" y="1828800"/>
            <a:ext cx="5239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Cases</a:t>
            </a:r>
            <a:endParaRPr lang="en-US" sz="12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2304288"/>
          <a:ext cx="5239512" cy="914400"/>
        </p:xfrm>
        <a:graphic>
          <a:graphicData uri="http://schemas.openxmlformats.org/drawingml/2006/table">
            <a:tbl>
              <a:tblPr/>
              <a:tblGrid>
                <a:gridCol w="890717"/>
                <a:gridCol w="2174397"/>
                <a:gridCol w="2174397"/>
              </a:tblGrid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Output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8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[[1,2],[3,4],[5,6]]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8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1 2 3 4 5 6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F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8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[[]] — one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8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empty inner list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F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8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(nothing printed)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FF6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8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[[1,[2,3]],[4,[5,[6]]]]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8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1 2 3 4 5 6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8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(recursive method)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Hidden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F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8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[1,2,3] — flat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8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list (no nesting)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F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8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1 2 3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FF6"/>
                    </a:solidFill>
                  </a:tcPr>
                </a:tc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502920" y="6528816"/>
            <a:ext cx="9601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Advanced &amp; Revision  ·  Talent Shine — LBRC Technical Training Programme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475720" y="6528816"/>
            <a:ext cx="365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REVISION  ·  PROGRAM 9 OF 12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109728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File Statistics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11183112" cy="438912"/>
          </a:xfrm>
          <a:prstGeom prst="roundRect">
            <a:avLst>
              <a:gd name="adj" fmla="val 12500"/>
            </a:avLst>
          </a:prstGeom>
          <a:solidFill>
            <a:srgbClr val="EBEFF6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1234440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2C4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 text file and report character, word, and line counts.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02920" y="1828800"/>
            <a:ext cx="5623560" cy="4224528"/>
          </a:xfrm>
          <a:prstGeom prst="roundRect">
            <a:avLst>
              <a:gd name="adj" fmla="val 1515"/>
            </a:avLst>
          </a:prstGeom>
          <a:solidFill>
            <a:srgbClr val="13213A"/>
          </a:solidFill>
          <a:ln/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04088" y="1993392"/>
            <a:ext cx="5221224" cy="3895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filename = input('Enter file name: ')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with open(filename, 'r') as f: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content = f.read()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lines = content.splitlines()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words = content.split()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chars = len(content)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chars_no_space = len(content.replace(' ','').replace('\n',''))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print(f'Lines      : {len(lines)}')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print(f'Words      : {len(words)}')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print(f'Characters : {chars}')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print(f'Chars(no sp): {chars_no_space}')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except FileNotFoundError: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print('Error: File not found.')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0" y="1828800"/>
            <a:ext cx="5239512" cy="384048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0" y="1828800"/>
            <a:ext cx="5239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Cases</a:t>
            </a:r>
            <a:endParaRPr lang="en-US" sz="12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2304288"/>
          <a:ext cx="5239512" cy="914400"/>
        </p:xfrm>
        <a:graphic>
          <a:graphicData uri="http://schemas.openxmlformats.org/drawingml/2006/table">
            <a:tbl>
              <a:tblPr/>
              <a:tblGrid>
                <a:gridCol w="890717"/>
                <a:gridCol w="2174397"/>
                <a:gridCol w="2174397"/>
              </a:tblGrid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Output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8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sample.txt: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8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'Hello World\nPython'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8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Lines:2 Words:3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8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Chars:18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F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8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empty file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F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8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Lines:0 Words:0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8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Chars:0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FF6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8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only blank lines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8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(3 newlines)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8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Lines:3 Words:0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Hidden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F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8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file doesn't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8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exist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F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8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Error: File not found.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FF6"/>
                    </a:solidFill>
                  </a:tcPr>
                </a:tc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502920" y="6528816"/>
            <a:ext cx="9601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Advanced &amp; Revision  ·  Talent Shine — LBRC Technical Training Programme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475720" y="6528816"/>
            <a:ext cx="365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REVISION  ·  PROGRAM 10 OF 12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109728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Prime Generator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11183112" cy="438912"/>
          </a:xfrm>
          <a:prstGeom prst="roundRect">
            <a:avLst>
              <a:gd name="adj" fmla="val 12500"/>
            </a:avLst>
          </a:prstGeom>
          <a:solidFill>
            <a:srgbClr val="EBEFF6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1234440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2C4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all prime numbers up to N using a generator and comprehension.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02920" y="1828800"/>
            <a:ext cx="5623560" cy="4159606"/>
          </a:xfrm>
          <a:prstGeom prst="roundRect">
            <a:avLst>
              <a:gd name="adj" fmla="val 1539"/>
            </a:avLst>
          </a:prstGeom>
          <a:solidFill>
            <a:srgbClr val="13213A"/>
          </a:solidFill>
          <a:ln/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04088" y="1993392"/>
            <a:ext cx="5221224" cy="38304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AA0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Method 1: Generator function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prime_gen(limit):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n in range(2, limit+1):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all(n % i != 0 for i in range(2, int(n**0.5)+1)):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yield 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 = int(input('Enter limit: '))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primes = list(prime_gen(n))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print(f'Primes up to {n}:', primes)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AA0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Method 2: List comprehension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is_prime(n):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n &lt; 2: return False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all(n % i != 0 for i in range(2, int(n**0.5)+1))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primes2 = [x for x in range(2, n+1) if is_prime(x)]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print('Primes:', primes2)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0" y="1828800"/>
            <a:ext cx="5239512" cy="384048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0" y="1828800"/>
            <a:ext cx="5239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Cases</a:t>
            </a:r>
            <a:endParaRPr lang="en-US" sz="12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2304288"/>
          <a:ext cx="5239512" cy="914400"/>
        </p:xfrm>
        <a:graphic>
          <a:graphicData uri="http://schemas.openxmlformats.org/drawingml/2006/table">
            <a:tbl>
              <a:tblPr/>
              <a:tblGrid>
                <a:gridCol w="890717"/>
                <a:gridCol w="2174397"/>
                <a:gridCol w="2174397"/>
              </a:tblGrid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Output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8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limit = 20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8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[2,3,5,7,11,13,17,19]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F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8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limit = 2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F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8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[2]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FF6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8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limit = 1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8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[] (no primes)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Hidden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F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8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limit = 50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F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8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15 primes up to 50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FF6"/>
                    </a:solidFill>
                  </a:tcPr>
                </a:tc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502920" y="6528816"/>
            <a:ext cx="9601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Advanced &amp; Revision  ·  Talent Shine — LBRC Technical Training Programme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475720" y="6528816"/>
            <a:ext cx="365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REVISION  ·  PROGRAM 11 OF 12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109728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 Sort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11183112" cy="438912"/>
          </a:xfrm>
          <a:prstGeom prst="roundRect">
            <a:avLst>
              <a:gd name="adj" fmla="val 12500"/>
            </a:avLst>
          </a:prstGeom>
          <a:solidFill>
            <a:srgbClr val="EBEFF6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1234440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2C4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a list of strings/dicts using custom key functions and lambda.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02920" y="1828800"/>
            <a:ext cx="5623560" cy="4427525"/>
          </a:xfrm>
          <a:prstGeom prst="roundRect">
            <a:avLst>
              <a:gd name="adj" fmla="val 1446"/>
            </a:avLst>
          </a:prstGeom>
          <a:solidFill>
            <a:srgbClr val="13213A"/>
          </a:solidFill>
          <a:ln/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04088" y="1993392"/>
            <a:ext cx="5221224" cy="4098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AA0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Sort strings by length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words = ['banana','apple','kiwi','mango','fig']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by_len = sorted(words, key=len)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print(by_len)  # ['fig','kiwi','apple','mango','banana']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8AA0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Sort strings by last character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by_last = sorted(words, key=lambda w: w[-1])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print(by_last)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8AA0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Sort list of dicts by a field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students = [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{'name':'Ravi','marks':55},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{'name':'Asha','marks':88},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{'name':'Dev', 'marks':72},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by_marks = sorted(students, key=lambda s: s['marks'],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reverse=True)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s in by_marks: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print(s['name'], ':', s['marks'])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0" y="1828800"/>
            <a:ext cx="5239512" cy="384048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0" y="1828800"/>
            <a:ext cx="5239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Cases</a:t>
            </a:r>
            <a:endParaRPr lang="en-US" sz="12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2304288"/>
          <a:ext cx="5239512" cy="914400"/>
        </p:xfrm>
        <a:graphic>
          <a:graphicData uri="http://schemas.openxmlformats.org/drawingml/2006/table">
            <a:tbl>
              <a:tblPr/>
              <a:tblGrid>
                <a:gridCol w="890717"/>
                <a:gridCol w="2174397"/>
                <a:gridCol w="2174397"/>
              </a:tblGrid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Output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8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['banana','apple','kiwi']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8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By len: ['kiwi','apple','banana']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F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8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single item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8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['hello']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F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8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['hello'] unchanged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FF6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8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all same length: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8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['cat','dog','ant']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8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Stable: original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8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order kept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Hidden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F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8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sort dicts by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8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marks descending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F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8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Asha:88 Dev:72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8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Ravi:55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FF6"/>
                    </a:solidFill>
                  </a:tcPr>
                </a:tc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502920" y="6528816"/>
            <a:ext cx="9601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Advanced &amp; Revision  ·  Talent Shine — LBRC Technical Training Programme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475720" y="6528816"/>
            <a:ext cx="365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REVISION  ·  PROGRAM 12 OF 12 — COMPREHENSIVE MIXED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109728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Comprehensive Mixed Problem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11183112" cy="438912"/>
          </a:xfrm>
          <a:prstGeom prst="roundRect">
            <a:avLst>
              <a:gd name="adj" fmla="val 12500"/>
            </a:avLst>
          </a:prstGeom>
          <a:solidFill>
            <a:srgbClr val="EBEFF6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1234440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2C4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Combines: list comprehension + dict comprehension + generator + *args + lambda + sorting — all in one program.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02920" y="1828800"/>
            <a:ext cx="5440680" cy="4679899"/>
          </a:xfrm>
          <a:prstGeom prst="roundRect">
            <a:avLst>
              <a:gd name="adj" fmla="val 1368"/>
            </a:avLst>
          </a:prstGeom>
          <a:solidFill>
            <a:srgbClr val="13213A"/>
          </a:solidFill>
          <a:ln/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04088" y="1993392"/>
            <a:ext cx="5038344" cy="43507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AA0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--- Part A: *args + lambda ---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stats(*nums):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{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'total':  sum(nums),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'avg':    sum(nums)/len(nums),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'max':    max(nums),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'min':    min(nums),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 = stats(4, 7, 2, 9, 1, 5)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print('Stats:', result)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8AA0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--- Part B: comprehensions ---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nums = [4, 7, 2, 9, 1, 5, 8, 3, 6]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evens  = [x for x in nums if x%2==0]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sq_map = {x: x**2 for x in nums}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uniq   = {x%3 for x in nums}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print('Evens:', evens)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print('Squares:', sq_map)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print('Remainders mod 3:', uniq)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172200" y="1828800"/>
            <a:ext cx="5422392" cy="5053889"/>
          </a:xfrm>
          <a:prstGeom prst="roundRect">
            <a:avLst>
              <a:gd name="adj" fmla="val 1267"/>
            </a:avLst>
          </a:prstGeom>
          <a:solidFill>
            <a:srgbClr val="13213A"/>
          </a:solidFill>
          <a:ln/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373368" y="1993392"/>
            <a:ext cx="5020056" cy="4724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AA0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--- Part C: generator ---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running_total(lst):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total = 0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n in lst: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total += 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yield total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print('Running totals:')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t in running_total(nums):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print(t, end=' ')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8AA0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--- Part D: custom sort ---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students = [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{'name':'Ravi','score':55},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{'name':'Asha','score':88},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{'name':'Dev', 'score':72},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 = sorted(students,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key=lambda s: s['score'],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reverse=True)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print('\nRanking:')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i,s in enumerate(top,1):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print(f'  {i}. {s["name"]}: {s["score"]}')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5806440"/>
            <a:ext cx="11183112" cy="384048"/>
          </a:xfrm>
          <a:prstGeom prst="roundRect">
            <a:avLst>
              <a:gd name="adj" fmla="val 50000"/>
            </a:avLst>
          </a:prstGeom>
          <a:solidFill>
            <a:srgbClr val="024A4A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5806440"/>
            <a:ext cx="11183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Output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6263640"/>
            <a:ext cx="11183112" cy="475488"/>
          </a:xfrm>
          <a:prstGeom prst="roundRect">
            <a:avLst>
              <a:gd name="adj" fmla="val 11538"/>
            </a:avLst>
          </a:prstGeom>
          <a:solidFill>
            <a:srgbClr val="13213A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6263640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9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Stats: {'total':41,'avg':4.56,'max':9,'min':1}  |  Evens:[4,2,8,6]  |  Running: 4 11 13 22…  |  Rank: Asha:88 Dev:72 Ravi:55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02920" y="6528816"/>
            <a:ext cx="9601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Advanced &amp; Revision  ·  Talent Shine — LBRC Technical Training Programme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475720" y="6528816"/>
            <a:ext cx="365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REFERENCE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109728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Advanced Python — One-Page Cheat Sheet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5440680" cy="713232"/>
          </a:xfrm>
          <a:prstGeom prst="roundRect">
            <a:avLst>
              <a:gd name="adj" fmla="val 8974"/>
            </a:avLst>
          </a:prstGeom>
          <a:solidFill>
            <a:srgbClr val="F5F7FB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527048"/>
            <a:ext cx="237744" cy="493776"/>
          </a:xfrm>
          <a:prstGeom prst="roundRect">
            <a:avLst>
              <a:gd name="adj" fmla="val 15385"/>
            </a:avLst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978408" y="146304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Comprehension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78408" y="1801368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[expr for x in it if cond]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217920" y="1417320"/>
            <a:ext cx="5440680" cy="713232"/>
          </a:xfrm>
          <a:prstGeom prst="roundRect">
            <a:avLst>
              <a:gd name="adj" fmla="val 8974"/>
            </a:avLst>
          </a:prstGeom>
          <a:solidFill>
            <a:srgbClr val="F5F7FB"/>
          </a:solidFill>
          <a:ln/>
        </p:spPr>
      </p:sp>
      <p:sp>
        <p:nvSpPr>
          <p:cNvPr id="9" name="Shape 7"/>
          <p:cNvSpPr/>
          <p:nvPr/>
        </p:nvSpPr>
        <p:spPr>
          <a:xfrm>
            <a:off x="6355080" y="1527048"/>
            <a:ext cx="237744" cy="493776"/>
          </a:xfrm>
          <a:prstGeom prst="roundRect">
            <a:avLst>
              <a:gd name="adj" fmla="val 15385"/>
            </a:avLst>
          </a:prstGeom>
          <a:solidFill>
            <a:srgbClr val="3D1A70"/>
          </a:solidFill>
          <a:ln/>
        </p:spPr>
      </p:sp>
      <p:sp>
        <p:nvSpPr>
          <p:cNvPr id="10" name="Text 8"/>
          <p:cNvSpPr/>
          <p:nvPr/>
        </p:nvSpPr>
        <p:spPr>
          <a:xfrm>
            <a:off x="6693408" y="146304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D1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 Comprehension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693408" y="1801368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{k:v for k,v in it.items() if cond}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02920" y="2212848"/>
            <a:ext cx="5440680" cy="713232"/>
          </a:xfrm>
          <a:prstGeom prst="roundRect">
            <a:avLst>
              <a:gd name="adj" fmla="val 8974"/>
            </a:avLst>
          </a:prstGeom>
          <a:solidFill>
            <a:srgbClr val="F5F7FB"/>
          </a:solidFill>
          <a:ln/>
        </p:spPr>
      </p:sp>
      <p:sp>
        <p:nvSpPr>
          <p:cNvPr id="13" name="Shape 11"/>
          <p:cNvSpPr/>
          <p:nvPr/>
        </p:nvSpPr>
        <p:spPr>
          <a:xfrm>
            <a:off x="640080" y="2322576"/>
            <a:ext cx="237744" cy="493776"/>
          </a:xfrm>
          <a:prstGeom prst="roundRect">
            <a:avLst>
              <a:gd name="adj" fmla="val 15385"/>
            </a:avLst>
          </a:prstGeom>
          <a:solidFill>
            <a:srgbClr val="3D1A70"/>
          </a:solidFill>
          <a:ln/>
        </p:spPr>
      </p:sp>
      <p:sp>
        <p:nvSpPr>
          <p:cNvPr id="14" name="Text 12"/>
          <p:cNvSpPr/>
          <p:nvPr/>
        </p:nvSpPr>
        <p:spPr>
          <a:xfrm>
            <a:off x="978408" y="225856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D1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Comprehension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78408" y="2596896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{expr for x in it if cond}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17920" y="2212848"/>
            <a:ext cx="5440680" cy="713232"/>
          </a:xfrm>
          <a:prstGeom prst="roundRect">
            <a:avLst>
              <a:gd name="adj" fmla="val 8974"/>
            </a:avLst>
          </a:prstGeom>
          <a:solidFill>
            <a:srgbClr val="F5F7FB"/>
          </a:solidFill>
          <a:ln/>
        </p:spPr>
      </p:sp>
      <p:sp>
        <p:nvSpPr>
          <p:cNvPr id="17" name="Shape 15"/>
          <p:cNvSpPr/>
          <p:nvPr/>
        </p:nvSpPr>
        <p:spPr>
          <a:xfrm>
            <a:off x="6355080" y="2322576"/>
            <a:ext cx="237744" cy="493776"/>
          </a:xfrm>
          <a:prstGeom prst="roundRect">
            <a:avLst>
              <a:gd name="adj" fmla="val 15385"/>
            </a:avLst>
          </a:prstGeom>
          <a:solidFill>
            <a:srgbClr val="7C3D00"/>
          </a:solidFill>
          <a:ln/>
        </p:spPr>
      </p:sp>
      <p:sp>
        <p:nvSpPr>
          <p:cNvPr id="18" name="Text 16"/>
          <p:cNvSpPr/>
          <p:nvPr/>
        </p:nvSpPr>
        <p:spPr>
          <a:xfrm>
            <a:off x="6693408" y="225856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Generator Expression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693408" y="2596896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(expr for x in it)   # lazy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02920" y="3008376"/>
            <a:ext cx="5440680" cy="713232"/>
          </a:xfrm>
          <a:prstGeom prst="roundRect">
            <a:avLst>
              <a:gd name="adj" fmla="val 8974"/>
            </a:avLst>
          </a:prstGeom>
          <a:solidFill>
            <a:srgbClr val="F5F7FB"/>
          </a:solidFill>
          <a:ln/>
        </p:spPr>
      </p:sp>
      <p:sp>
        <p:nvSpPr>
          <p:cNvPr id="21" name="Shape 19"/>
          <p:cNvSpPr/>
          <p:nvPr/>
        </p:nvSpPr>
        <p:spPr>
          <a:xfrm>
            <a:off x="640080" y="3118104"/>
            <a:ext cx="237744" cy="493776"/>
          </a:xfrm>
          <a:prstGeom prst="roundRect">
            <a:avLst>
              <a:gd name="adj" fmla="val 15385"/>
            </a:avLst>
          </a:prstGeom>
          <a:solidFill>
            <a:srgbClr val="7C3D00"/>
          </a:solidFill>
          <a:ln/>
        </p:spPr>
      </p:sp>
      <p:sp>
        <p:nvSpPr>
          <p:cNvPr id="22" name="Text 20"/>
          <p:cNvSpPr/>
          <p:nvPr/>
        </p:nvSpPr>
        <p:spPr>
          <a:xfrm>
            <a:off x="978408" y="3054096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iter() / next()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78408" y="3392424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it=iter(lst); next(it)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217920" y="3008376"/>
            <a:ext cx="5440680" cy="713232"/>
          </a:xfrm>
          <a:prstGeom prst="roundRect">
            <a:avLst>
              <a:gd name="adj" fmla="val 8974"/>
            </a:avLst>
          </a:prstGeom>
          <a:solidFill>
            <a:srgbClr val="F5F7FB"/>
          </a:solidFill>
          <a:ln/>
        </p:spPr>
      </p:sp>
      <p:sp>
        <p:nvSpPr>
          <p:cNvPr id="25" name="Shape 23"/>
          <p:cNvSpPr/>
          <p:nvPr/>
        </p:nvSpPr>
        <p:spPr>
          <a:xfrm>
            <a:off x="6355080" y="3118104"/>
            <a:ext cx="237744" cy="493776"/>
          </a:xfrm>
          <a:prstGeom prst="roundRect">
            <a:avLst>
              <a:gd name="adj" fmla="val 15385"/>
            </a:avLst>
          </a:prstGeom>
          <a:solidFill>
            <a:srgbClr val="7C3D00"/>
          </a:solidFill>
          <a:ln/>
        </p:spPr>
      </p:sp>
      <p:sp>
        <p:nvSpPr>
          <p:cNvPr id="26" name="Text 24"/>
          <p:cNvSpPr/>
          <p:nvPr/>
        </p:nvSpPr>
        <p:spPr>
          <a:xfrm>
            <a:off x="6693408" y="3054096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Generator Function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693408" y="3392424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fn():\n    yield value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02920" y="3803904"/>
            <a:ext cx="5440680" cy="713232"/>
          </a:xfrm>
          <a:prstGeom prst="roundRect">
            <a:avLst>
              <a:gd name="adj" fmla="val 8974"/>
            </a:avLst>
          </a:prstGeom>
          <a:solidFill>
            <a:srgbClr val="F5F7FB"/>
          </a:solidFill>
          <a:ln/>
        </p:spPr>
      </p:sp>
      <p:sp>
        <p:nvSpPr>
          <p:cNvPr id="29" name="Shape 27"/>
          <p:cNvSpPr/>
          <p:nvPr/>
        </p:nvSpPr>
        <p:spPr>
          <a:xfrm>
            <a:off x="640080" y="3913632"/>
            <a:ext cx="237744" cy="493776"/>
          </a:xfrm>
          <a:prstGeom prst="roundRect">
            <a:avLst>
              <a:gd name="adj" fmla="val 15385"/>
            </a:avLst>
          </a:prstGeom>
          <a:solidFill>
            <a:srgbClr val="024A4A"/>
          </a:solidFill>
          <a:ln/>
        </p:spPr>
      </p:sp>
      <p:sp>
        <p:nvSpPr>
          <p:cNvPr id="30" name="Text 28"/>
          <p:cNvSpPr/>
          <p:nvPr/>
        </p:nvSpPr>
        <p:spPr>
          <a:xfrm>
            <a:off x="978408" y="3849624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*args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978408" y="4187952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fn(*args):  # args is tuple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217920" y="3803904"/>
            <a:ext cx="5440680" cy="713232"/>
          </a:xfrm>
          <a:prstGeom prst="roundRect">
            <a:avLst>
              <a:gd name="adj" fmla="val 8974"/>
            </a:avLst>
          </a:prstGeom>
          <a:solidFill>
            <a:srgbClr val="F5F7FB"/>
          </a:solidFill>
          <a:ln/>
        </p:spPr>
      </p:sp>
      <p:sp>
        <p:nvSpPr>
          <p:cNvPr id="33" name="Shape 31"/>
          <p:cNvSpPr/>
          <p:nvPr/>
        </p:nvSpPr>
        <p:spPr>
          <a:xfrm>
            <a:off x="6355080" y="3913632"/>
            <a:ext cx="237744" cy="493776"/>
          </a:xfrm>
          <a:prstGeom prst="roundRect">
            <a:avLst>
              <a:gd name="adj" fmla="val 15385"/>
            </a:avLst>
          </a:prstGeom>
          <a:solidFill>
            <a:srgbClr val="024A4A"/>
          </a:solidFill>
          <a:ln/>
        </p:spPr>
      </p:sp>
      <p:sp>
        <p:nvSpPr>
          <p:cNvPr id="34" name="Text 32"/>
          <p:cNvSpPr/>
          <p:nvPr/>
        </p:nvSpPr>
        <p:spPr>
          <a:xfrm>
            <a:off x="6693408" y="3849624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**kwargs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693408" y="4187952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fn(**kwargs): # kwargs is dict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02920" y="4599432"/>
            <a:ext cx="5440680" cy="713232"/>
          </a:xfrm>
          <a:prstGeom prst="roundRect">
            <a:avLst>
              <a:gd name="adj" fmla="val 8974"/>
            </a:avLst>
          </a:prstGeom>
          <a:solidFill>
            <a:srgbClr val="F5F7FB"/>
          </a:solidFill>
          <a:ln/>
        </p:spPr>
      </p:sp>
      <p:sp>
        <p:nvSpPr>
          <p:cNvPr id="37" name="Shape 35"/>
          <p:cNvSpPr/>
          <p:nvPr/>
        </p:nvSpPr>
        <p:spPr>
          <a:xfrm>
            <a:off x="640080" y="4709160"/>
            <a:ext cx="237744" cy="493776"/>
          </a:xfrm>
          <a:prstGeom prst="roundRect">
            <a:avLst>
              <a:gd name="adj" fmla="val 15385"/>
            </a:avLst>
          </a:prstGeom>
          <a:solidFill>
            <a:srgbClr val="024A4A"/>
          </a:solidFill>
          <a:ln/>
        </p:spPr>
      </p:sp>
      <p:sp>
        <p:nvSpPr>
          <p:cNvPr id="38" name="Text 36"/>
          <p:cNvSpPr/>
          <p:nvPr/>
        </p:nvSpPr>
        <p:spPr>
          <a:xfrm>
            <a:off x="978408" y="464515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Unpack * at call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978408" y="4983480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fn(*list_var)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217920" y="4599432"/>
            <a:ext cx="5440680" cy="713232"/>
          </a:xfrm>
          <a:prstGeom prst="roundRect">
            <a:avLst>
              <a:gd name="adj" fmla="val 8974"/>
            </a:avLst>
          </a:prstGeom>
          <a:solidFill>
            <a:srgbClr val="F5F7FB"/>
          </a:solidFill>
          <a:ln/>
        </p:spPr>
      </p:sp>
      <p:sp>
        <p:nvSpPr>
          <p:cNvPr id="41" name="Shape 39"/>
          <p:cNvSpPr/>
          <p:nvPr/>
        </p:nvSpPr>
        <p:spPr>
          <a:xfrm>
            <a:off x="6355080" y="4709160"/>
            <a:ext cx="237744" cy="493776"/>
          </a:xfrm>
          <a:prstGeom prst="roundRect">
            <a:avLst>
              <a:gd name="adj" fmla="val 15385"/>
            </a:avLst>
          </a:prstGeom>
          <a:solidFill>
            <a:srgbClr val="024A4A"/>
          </a:solidFill>
          <a:ln/>
        </p:spPr>
      </p:sp>
      <p:sp>
        <p:nvSpPr>
          <p:cNvPr id="42" name="Text 40"/>
          <p:cNvSpPr/>
          <p:nvPr/>
        </p:nvSpPr>
        <p:spPr>
          <a:xfrm>
            <a:off x="6693408" y="464515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Unpack ** at call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693408" y="4983480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fn(**dict_var)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502920" y="5394960"/>
            <a:ext cx="5440680" cy="713232"/>
          </a:xfrm>
          <a:prstGeom prst="roundRect">
            <a:avLst>
              <a:gd name="adj" fmla="val 8974"/>
            </a:avLst>
          </a:prstGeom>
          <a:solidFill>
            <a:srgbClr val="F5F7FB"/>
          </a:solidFill>
          <a:ln/>
        </p:spPr>
      </p:sp>
      <p:sp>
        <p:nvSpPr>
          <p:cNvPr id="45" name="Shape 43"/>
          <p:cNvSpPr/>
          <p:nvPr/>
        </p:nvSpPr>
        <p:spPr>
          <a:xfrm>
            <a:off x="640080" y="5504688"/>
            <a:ext cx="237744" cy="493776"/>
          </a:xfrm>
          <a:prstGeom prst="roundRect">
            <a:avLst>
              <a:gd name="adj" fmla="val 15385"/>
            </a:avLst>
          </a:prstGeom>
          <a:solidFill>
            <a:srgbClr val="065A82"/>
          </a:solidFill>
          <a:ln/>
        </p:spPr>
      </p:sp>
      <p:sp>
        <p:nvSpPr>
          <p:cNvPr id="46" name="Text 44"/>
          <p:cNvSpPr/>
          <p:nvPr/>
        </p:nvSpPr>
        <p:spPr>
          <a:xfrm>
            <a:off x="978408" y="544068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dicts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978408" y="5779008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{**d1, **d2}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217920" y="5394960"/>
            <a:ext cx="5440680" cy="713232"/>
          </a:xfrm>
          <a:prstGeom prst="roundRect">
            <a:avLst>
              <a:gd name="adj" fmla="val 8974"/>
            </a:avLst>
          </a:prstGeom>
          <a:solidFill>
            <a:srgbClr val="F5F7FB"/>
          </a:solidFill>
          <a:ln/>
        </p:spPr>
      </p:sp>
      <p:sp>
        <p:nvSpPr>
          <p:cNvPr id="49" name="Shape 47"/>
          <p:cNvSpPr/>
          <p:nvPr/>
        </p:nvSpPr>
        <p:spPr>
          <a:xfrm>
            <a:off x="6355080" y="5504688"/>
            <a:ext cx="237744" cy="493776"/>
          </a:xfrm>
          <a:prstGeom prst="roundRect">
            <a:avLst>
              <a:gd name="adj" fmla="val 15385"/>
            </a:avLst>
          </a:prstGeom>
          <a:solidFill>
            <a:srgbClr val="065A82"/>
          </a:solidFill>
          <a:ln/>
        </p:spPr>
      </p:sp>
      <p:sp>
        <p:nvSpPr>
          <p:cNvPr id="50" name="Text 48"/>
          <p:cNvSpPr/>
          <p:nvPr/>
        </p:nvSpPr>
        <p:spPr>
          <a:xfrm>
            <a:off x="6693408" y="544068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by key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6693408" y="5779008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sorted(lst, key=lambda x: x[field])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502920" y="6528816"/>
            <a:ext cx="9601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Advanced &amp; Revision  ·  Talent Shine — LBRC Technical Training Programme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11475720" y="6528816"/>
            <a:ext cx="365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QUIZ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109728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Your Understanding — 8 Questions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5440680" cy="1188720"/>
          </a:xfrm>
          <a:prstGeom prst="roundRect">
            <a:avLst>
              <a:gd name="adj" fmla="val 6154"/>
            </a:avLst>
          </a:prstGeom>
          <a:solidFill>
            <a:srgbClr val="F5F7FB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463040"/>
            <a:ext cx="5029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What does [x**2 for x in range(4) if x%2==0] produce?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731520" y="1892808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[0,4]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[1,4,9]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[0,1,4,9,16]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[0,4,16]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217920" y="1371600"/>
            <a:ext cx="5440680" cy="1188720"/>
          </a:xfrm>
          <a:prstGeom prst="roundRect">
            <a:avLst>
              <a:gd name="adj" fmla="val 6154"/>
            </a:avLst>
          </a:prstGeom>
          <a:solidFill>
            <a:srgbClr val="F5F7FB"/>
          </a:solidFill>
          <a:ln/>
        </p:spPr>
      </p:sp>
      <p:sp>
        <p:nvSpPr>
          <p:cNvPr id="8" name="Text 6"/>
          <p:cNvSpPr/>
          <p:nvPr/>
        </p:nvSpPr>
        <p:spPr>
          <a:xfrm>
            <a:off x="6446520" y="1463040"/>
            <a:ext cx="5029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What type does (x for x in range(5)) create?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446520" y="1892808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list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tuple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generator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set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2920" y="2697480"/>
            <a:ext cx="5440680" cy="1188720"/>
          </a:xfrm>
          <a:prstGeom prst="roundRect">
            <a:avLst>
              <a:gd name="adj" fmla="val 6154"/>
            </a:avLst>
          </a:prstGeom>
          <a:solidFill>
            <a:srgbClr val="F5F7FB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788920"/>
            <a:ext cx="5029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What does {v:k for k,v in d.items()} do to a dict?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31520" y="3218688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Copies it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Inverts it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Sorts it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Filters it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217920" y="2697480"/>
            <a:ext cx="5440680" cy="1188720"/>
          </a:xfrm>
          <a:prstGeom prst="roundRect">
            <a:avLst>
              <a:gd name="adj" fmla="val 6154"/>
            </a:avLst>
          </a:prstGeom>
          <a:solidFill>
            <a:srgbClr val="F5F7FB"/>
          </a:solidFill>
          <a:ln/>
        </p:spPr>
      </p:sp>
      <p:sp>
        <p:nvSpPr>
          <p:cNvPr id="14" name="Text 12"/>
          <p:cNvSpPr/>
          <p:nvPr/>
        </p:nvSpPr>
        <p:spPr>
          <a:xfrm>
            <a:off x="6446520" y="2788920"/>
            <a:ext cx="5029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What happens when a generator runs out of values?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446520" y="3218688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Returns None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Restarts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Raises StopIteration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Returns 0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02920" y="4023360"/>
            <a:ext cx="5440680" cy="1188720"/>
          </a:xfrm>
          <a:prstGeom prst="roundRect">
            <a:avLst>
              <a:gd name="adj" fmla="val 6154"/>
            </a:avLst>
          </a:prstGeom>
          <a:solidFill>
            <a:srgbClr val="F5F7FB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4114800"/>
            <a:ext cx="5029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In def fn(a, *args, **kwargs): — what is args?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731520" y="4544568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dict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list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tuple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set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217920" y="4023360"/>
            <a:ext cx="5440680" cy="1188720"/>
          </a:xfrm>
          <a:prstGeom prst="roundRect">
            <a:avLst>
              <a:gd name="adj" fmla="val 6154"/>
            </a:avLst>
          </a:prstGeom>
          <a:solidFill>
            <a:srgbClr val="F5F7FB"/>
          </a:solidFill>
          <a:ln/>
        </p:spPr>
      </p:sp>
      <p:sp>
        <p:nvSpPr>
          <p:cNvPr id="20" name="Text 18"/>
          <p:cNvSpPr/>
          <p:nvPr/>
        </p:nvSpPr>
        <p:spPr>
          <a:xfrm>
            <a:off x="6446520" y="4114800"/>
            <a:ext cx="5029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{x**2 for x in [-2,-1,0,1,2]} produces how many items?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446520" y="4544568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5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4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3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2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02920" y="5349240"/>
            <a:ext cx="5440680" cy="1188720"/>
          </a:xfrm>
          <a:prstGeom prst="roundRect">
            <a:avLst>
              <a:gd name="adj" fmla="val 6154"/>
            </a:avLst>
          </a:prstGeom>
          <a:solidFill>
            <a:srgbClr val="F5F7FB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5440680"/>
            <a:ext cx="5029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Which correctly unpacks a dict 'd' when calling fn()?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731520" y="5870448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fn(*d)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fn(**d)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fn(d)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fn(&amp;d)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217920" y="5349240"/>
            <a:ext cx="5440680" cy="1188720"/>
          </a:xfrm>
          <a:prstGeom prst="roundRect">
            <a:avLst>
              <a:gd name="adj" fmla="val 6154"/>
            </a:avLst>
          </a:prstGeom>
          <a:solidFill>
            <a:srgbClr val="F5F7FB"/>
          </a:solidFill>
          <a:ln/>
        </p:spPr>
      </p:sp>
      <p:sp>
        <p:nvSpPr>
          <p:cNvPr id="26" name="Text 24"/>
          <p:cNvSpPr/>
          <p:nvPr/>
        </p:nvSpPr>
        <p:spPr>
          <a:xfrm>
            <a:off x="6446520" y="5440680"/>
            <a:ext cx="5029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What is the memory advantage of a generator over a list?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446520" y="5870448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None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Stores data on disk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Yields one item at a time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Uses C instead of Python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02920" y="6528816"/>
            <a:ext cx="9601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Advanced &amp; Revision  ·  Talent Shine — LBRC Technical Training Programme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475720" y="6528816"/>
            <a:ext cx="365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ANSWER KEY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109728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Answers with Explanations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5440680" cy="1143000"/>
          </a:xfrm>
          <a:prstGeom prst="roundRect">
            <a:avLst>
              <a:gd name="adj" fmla="val 6400"/>
            </a:avLst>
          </a:prstGeom>
          <a:solidFill>
            <a:srgbClr val="EBEFF6"/>
          </a:solidFill>
          <a:ln/>
        </p:spPr>
      </p:sp>
      <p:sp>
        <p:nvSpPr>
          <p:cNvPr id="5" name="Shape 3"/>
          <p:cNvSpPr/>
          <p:nvPr/>
        </p:nvSpPr>
        <p:spPr>
          <a:xfrm>
            <a:off x="704088" y="1737360"/>
            <a:ext cx="402336" cy="40233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704088" y="17373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52728" y="1444752"/>
            <a:ext cx="4480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[0, 4, 16]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52728" y="1874520"/>
            <a:ext cx="4526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x=0,2 pass if x%2==0 → 0²=0, 2²=4, but range(4)=0,1,2,3 → 0,2 → 0,4. Wait: range(4) evens are 0,2 → 0,4. But 4 is not in range(4). Correct: [0,4].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217920" y="1371600"/>
            <a:ext cx="5440680" cy="1143000"/>
          </a:xfrm>
          <a:prstGeom prst="roundRect">
            <a:avLst>
              <a:gd name="adj" fmla="val 6400"/>
            </a:avLst>
          </a:prstGeom>
          <a:solidFill>
            <a:srgbClr val="EBEFF6"/>
          </a:solidFill>
          <a:ln/>
        </p:spPr>
      </p:sp>
      <p:sp>
        <p:nvSpPr>
          <p:cNvPr id="10" name="Shape 8"/>
          <p:cNvSpPr/>
          <p:nvPr/>
        </p:nvSpPr>
        <p:spPr>
          <a:xfrm>
            <a:off x="6419088" y="1737360"/>
            <a:ext cx="402336" cy="402336"/>
          </a:xfrm>
          <a:prstGeom prst="ellipse">
            <a:avLst/>
          </a:prstGeom>
          <a:solidFill>
            <a:srgbClr val="3D1A70"/>
          </a:solidFill>
          <a:ln/>
        </p:spPr>
      </p:sp>
      <p:sp>
        <p:nvSpPr>
          <p:cNvPr id="11" name="Text 9"/>
          <p:cNvSpPr/>
          <p:nvPr/>
        </p:nvSpPr>
        <p:spPr>
          <a:xfrm>
            <a:off x="6419088" y="17373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967728" y="1444752"/>
            <a:ext cx="4480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generator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967728" y="1874520"/>
            <a:ext cx="4526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() around a comprehension creates a lazy generator object, not a list or tuple.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2920" y="2670048"/>
            <a:ext cx="5440680" cy="1143000"/>
          </a:xfrm>
          <a:prstGeom prst="roundRect">
            <a:avLst>
              <a:gd name="adj" fmla="val 6400"/>
            </a:avLst>
          </a:prstGeom>
          <a:solidFill>
            <a:srgbClr val="EBEFF6"/>
          </a:solidFill>
          <a:ln/>
        </p:spPr>
      </p:sp>
      <p:sp>
        <p:nvSpPr>
          <p:cNvPr id="15" name="Shape 13"/>
          <p:cNvSpPr/>
          <p:nvPr/>
        </p:nvSpPr>
        <p:spPr>
          <a:xfrm>
            <a:off x="704088" y="3035808"/>
            <a:ext cx="402336" cy="402336"/>
          </a:xfrm>
          <a:prstGeom prst="ellipse">
            <a:avLst/>
          </a:prstGeom>
          <a:solidFill>
            <a:srgbClr val="3D1A70"/>
          </a:solidFill>
          <a:ln/>
        </p:spPr>
      </p:sp>
      <p:sp>
        <p:nvSpPr>
          <p:cNvPr id="16" name="Text 14"/>
          <p:cNvSpPr/>
          <p:nvPr/>
        </p:nvSpPr>
        <p:spPr>
          <a:xfrm>
            <a:off x="704088" y="30358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252728" y="2743200"/>
            <a:ext cx="4480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Inverts it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252728" y="3172968"/>
            <a:ext cx="4526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Swapping k and v in the comprehension creates a new dict where old values become new keys.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217920" y="2670048"/>
            <a:ext cx="5440680" cy="1143000"/>
          </a:xfrm>
          <a:prstGeom prst="roundRect">
            <a:avLst>
              <a:gd name="adj" fmla="val 6400"/>
            </a:avLst>
          </a:prstGeom>
          <a:solidFill>
            <a:srgbClr val="EBEFF6"/>
          </a:solidFill>
          <a:ln/>
        </p:spPr>
      </p:sp>
      <p:sp>
        <p:nvSpPr>
          <p:cNvPr id="20" name="Shape 18"/>
          <p:cNvSpPr/>
          <p:nvPr/>
        </p:nvSpPr>
        <p:spPr>
          <a:xfrm>
            <a:off x="6419088" y="3035808"/>
            <a:ext cx="402336" cy="402336"/>
          </a:xfrm>
          <a:prstGeom prst="ellipse">
            <a:avLst/>
          </a:prstGeom>
          <a:solidFill>
            <a:srgbClr val="7C3D00"/>
          </a:solidFill>
          <a:ln/>
        </p:spPr>
      </p:sp>
      <p:sp>
        <p:nvSpPr>
          <p:cNvPr id="21" name="Text 19"/>
          <p:cNvSpPr/>
          <p:nvPr/>
        </p:nvSpPr>
        <p:spPr>
          <a:xfrm>
            <a:off x="6419088" y="30358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967728" y="2743200"/>
            <a:ext cx="4480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Raises StopIteration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967728" y="3172968"/>
            <a:ext cx="4526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Python's for-loop catches StopIteration automatically; calling next() directly raises it.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02920" y="3968496"/>
            <a:ext cx="5440680" cy="1143000"/>
          </a:xfrm>
          <a:prstGeom prst="roundRect">
            <a:avLst>
              <a:gd name="adj" fmla="val 6400"/>
            </a:avLst>
          </a:prstGeom>
          <a:solidFill>
            <a:srgbClr val="EBEFF6"/>
          </a:solidFill>
          <a:ln/>
        </p:spPr>
      </p:sp>
      <p:sp>
        <p:nvSpPr>
          <p:cNvPr id="25" name="Shape 23"/>
          <p:cNvSpPr/>
          <p:nvPr/>
        </p:nvSpPr>
        <p:spPr>
          <a:xfrm>
            <a:off x="704088" y="4334256"/>
            <a:ext cx="402336" cy="402336"/>
          </a:xfrm>
          <a:prstGeom prst="ellipse">
            <a:avLst/>
          </a:prstGeom>
          <a:solidFill>
            <a:srgbClr val="7C3D00"/>
          </a:solidFill>
          <a:ln/>
        </p:spPr>
      </p:sp>
      <p:sp>
        <p:nvSpPr>
          <p:cNvPr id="26" name="Text 24"/>
          <p:cNvSpPr/>
          <p:nvPr/>
        </p:nvSpPr>
        <p:spPr>
          <a:xfrm>
            <a:off x="704088" y="43342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252728" y="4041648"/>
            <a:ext cx="4480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tuple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252728" y="4471416"/>
            <a:ext cx="4526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*args collects extra positional arguments into a tuple — not a list or dict.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217920" y="3968496"/>
            <a:ext cx="5440680" cy="1143000"/>
          </a:xfrm>
          <a:prstGeom prst="roundRect">
            <a:avLst>
              <a:gd name="adj" fmla="val 6400"/>
            </a:avLst>
          </a:prstGeom>
          <a:solidFill>
            <a:srgbClr val="EBEFF6"/>
          </a:solidFill>
          <a:ln/>
        </p:spPr>
      </p:sp>
      <p:sp>
        <p:nvSpPr>
          <p:cNvPr id="30" name="Shape 28"/>
          <p:cNvSpPr/>
          <p:nvPr/>
        </p:nvSpPr>
        <p:spPr>
          <a:xfrm>
            <a:off x="6419088" y="4334256"/>
            <a:ext cx="402336" cy="402336"/>
          </a:xfrm>
          <a:prstGeom prst="ellipse">
            <a:avLst/>
          </a:prstGeom>
          <a:solidFill>
            <a:srgbClr val="024A4A"/>
          </a:solidFill>
          <a:ln/>
        </p:spPr>
      </p:sp>
      <p:sp>
        <p:nvSpPr>
          <p:cNvPr id="31" name="Text 29"/>
          <p:cNvSpPr/>
          <p:nvPr/>
        </p:nvSpPr>
        <p:spPr>
          <a:xfrm>
            <a:off x="6419088" y="43342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6967728" y="4041648"/>
            <a:ext cx="4480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3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967728" y="4471416"/>
            <a:ext cx="4526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Squares: {(-2)²=4, (-1)²=1, 0²=0, 1²=1, 2²=4} → unique values: {0,1,4} → 3 items.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02920" y="5266944"/>
            <a:ext cx="5440680" cy="1143000"/>
          </a:xfrm>
          <a:prstGeom prst="roundRect">
            <a:avLst>
              <a:gd name="adj" fmla="val 6400"/>
            </a:avLst>
          </a:prstGeom>
          <a:solidFill>
            <a:srgbClr val="EBEFF6"/>
          </a:solidFill>
          <a:ln/>
        </p:spPr>
      </p:sp>
      <p:sp>
        <p:nvSpPr>
          <p:cNvPr id="35" name="Shape 33"/>
          <p:cNvSpPr/>
          <p:nvPr/>
        </p:nvSpPr>
        <p:spPr>
          <a:xfrm>
            <a:off x="704088" y="5632704"/>
            <a:ext cx="402336" cy="402336"/>
          </a:xfrm>
          <a:prstGeom prst="ellipse">
            <a:avLst/>
          </a:prstGeom>
          <a:solidFill>
            <a:srgbClr val="024A4A"/>
          </a:solidFill>
          <a:ln/>
        </p:spPr>
      </p:sp>
      <p:sp>
        <p:nvSpPr>
          <p:cNvPr id="36" name="Text 34"/>
          <p:cNvSpPr/>
          <p:nvPr/>
        </p:nvSpPr>
        <p:spPr>
          <a:xfrm>
            <a:off x="704088" y="56327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1252728" y="5340096"/>
            <a:ext cx="4480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fn(**d)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1252728" y="5769864"/>
            <a:ext cx="4526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** unpacks a dict into keyword arguments. *d would unpack only the keys.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217920" y="5266944"/>
            <a:ext cx="5440680" cy="1143000"/>
          </a:xfrm>
          <a:prstGeom prst="roundRect">
            <a:avLst>
              <a:gd name="adj" fmla="val 6400"/>
            </a:avLst>
          </a:prstGeom>
          <a:solidFill>
            <a:srgbClr val="EBEFF6"/>
          </a:solidFill>
          <a:ln/>
        </p:spPr>
      </p:sp>
      <p:sp>
        <p:nvSpPr>
          <p:cNvPr id="40" name="Shape 38"/>
          <p:cNvSpPr/>
          <p:nvPr/>
        </p:nvSpPr>
        <p:spPr>
          <a:xfrm>
            <a:off x="6419088" y="5632704"/>
            <a:ext cx="402336" cy="40233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41" name="Text 39"/>
          <p:cNvSpPr/>
          <p:nvPr/>
        </p:nvSpPr>
        <p:spPr>
          <a:xfrm>
            <a:off x="6419088" y="56327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6967728" y="5340096"/>
            <a:ext cx="4480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Yields one item at a time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6967728" y="5769864"/>
            <a:ext cx="4526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Generators compute and yield values lazily — they don't store the full sequence in memory.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02920" y="6528816"/>
            <a:ext cx="9601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Advanced &amp; Revision  ·  Talent Shine — LBRC Technical Training Programme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1475720" y="6528816"/>
            <a:ext cx="365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109728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Revision Recap — What You've Mastered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5440680" cy="2331720"/>
          </a:xfrm>
          <a:prstGeom prst="roundRect">
            <a:avLst>
              <a:gd name="adj" fmla="val 3922"/>
            </a:avLst>
          </a:prstGeom>
          <a:solidFill>
            <a:srgbClr val="F5F7FB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536192"/>
            <a:ext cx="5074920" cy="457200"/>
          </a:xfrm>
          <a:prstGeom prst="roundRect">
            <a:avLst>
              <a:gd name="adj" fmla="val 12000"/>
            </a:avLst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536192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List Comprehensions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2139696"/>
            <a:ext cx="4892040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[expr for x in it if cond]</a:t>
            </a:r>
            <a:endParaRPr lang="en-US" sz="1250" dirty="0"/>
          </a:p>
          <a:p>
            <a:pPr marL="342900" indent="-342900">
              <a:lnSpc>
                <a:spcPct val="110000"/>
              </a:lnSpc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 comprehensions for 2-D data</a:t>
            </a:r>
            <a:endParaRPr lang="en-US" sz="1250" dirty="0"/>
          </a:p>
          <a:p>
            <a:pPr marL="342900" indent="-342900">
              <a:lnSpc>
                <a:spcPct val="110000"/>
              </a:lnSpc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if-else inside the expression</a:t>
            </a:r>
            <a:endParaRPr lang="en-US" sz="1250" dirty="0"/>
          </a:p>
          <a:p>
            <a:pPr marL="342900" indent="-342900">
              <a:lnSpc>
                <a:spcPct val="110000"/>
              </a:lnSpc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than manual append loops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17920" y="1371600"/>
            <a:ext cx="5440680" cy="2331720"/>
          </a:xfrm>
          <a:prstGeom prst="roundRect">
            <a:avLst>
              <a:gd name="adj" fmla="val 3922"/>
            </a:avLst>
          </a:prstGeom>
          <a:solidFill>
            <a:srgbClr val="F5F7FB"/>
          </a:solidFill>
          <a:ln/>
        </p:spPr>
      </p:sp>
      <p:sp>
        <p:nvSpPr>
          <p:cNvPr id="9" name="Shape 7"/>
          <p:cNvSpPr/>
          <p:nvPr/>
        </p:nvSpPr>
        <p:spPr>
          <a:xfrm>
            <a:off x="6400800" y="1536192"/>
            <a:ext cx="5074920" cy="457200"/>
          </a:xfrm>
          <a:prstGeom prst="roundRect">
            <a:avLst>
              <a:gd name="adj" fmla="val 12000"/>
            </a:avLst>
          </a:prstGeom>
          <a:solidFill>
            <a:srgbClr val="3D1A70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0" y="1536192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Dict &amp; Set Comprehensions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537960" y="2139696"/>
            <a:ext cx="4892040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{k:v for…} builds dicts in one line</a:t>
            </a:r>
            <a:endParaRPr lang="en-US" sz="1250" dirty="0"/>
          </a:p>
          <a:p>
            <a:pPr marL="342900" indent="-342900">
              <a:lnSpc>
                <a:spcPct val="110000"/>
              </a:lnSpc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{expr for…} auto-removes duplicates</a:t>
            </a:r>
            <a:endParaRPr lang="en-US" sz="1250" dirty="0"/>
          </a:p>
          <a:p>
            <a:pPr marL="342900" indent="-342900">
              <a:lnSpc>
                <a:spcPct val="110000"/>
              </a:lnSpc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Invert, filter, transform dicts easily</a:t>
            </a:r>
            <a:endParaRPr lang="en-US" sz="1250" dirty="0"/>
          </a:p>
          <a:p>
            <a:pPr marL="342900" indent="-342900">
              <a:lnSpc>
                <a:spcPct val="110000"/>
              </a:lnSpc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Generator () for lazy evaluation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02920" y="3913632"/>
            <a:ext cx="5440680" cy="2331720"/>
          </a:xfrm>
          <a:prstGeom prst="roundRect">
            <a:avLst>
              <a:gd name="adj" fmla="val 3922"/>
            </a:avLst>
          </a:prstGeom>
          <a:solidFill>
            <a:srgbClr val="F5F7FB"/>
          </a:solidFill>
          <a:ln/>
        </p:spPr>
      </p:sp>
      <p:sp>
        <p:nvSpPr>
          <p:cNvPr id="13" name="Shape 11"/>
          <p:cNvSpPr/>
          <p:nvPr/>
        </p:nvSpPr>
        <p:spPr>
          <a:xfrm>
            <a:off x="685800" y="4078224"/>
            <a:ext cx="5074920" cy="457200"/>
          </a:xfrm>
          <a:prstGeom prst="roundRect">
            <a:avLst>
              <a:gd name="adj" fmla="val 12000"/>
            </a:avLst>
          </a:prstGeom>
          <a:solidFill>
            <a:srgbClr val="7C3D00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4078224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Iterators &amp; Generators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22960" y="4681728"/>
            <a:ext cx="4892040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__iter__ + __next__ protocol</a:t>
            </a:r>
            <a:endParaRPr lang="en-US" sz="1250" dirty="0"/>
          </a:p>
          <a:p>
            <a:pPr marL="342900" indent="-342900">
              <a:lnSpc>
                <a:spcPct val="110000"/>
              </a:lnSpc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iter() / next() built-ins</a:t>
            </a:r>
            <a:endParaRPr lang="en-US" sz="1250" dirty="0"/>
          </a:p>
          <a:p>
            <a:pPr marL="342900" indent="-342900">
              <a:lnSpc>
                <a:spcPct val="110000"/>
              </a:lnSpc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yield pauses &amp; preserves state</a:t>
            </a:r>
            <a:endParaRPr lang="en-US" sz="1250" dirty="0"/>
          </a:p>
          <a:p>
            <a:pPr marL="342900" indent="-342900">
              <a:lnSpc>
                <a:spcPct val="110000"/>
              </a:lnSpc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Infinite / large sequences efficiently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217920" y="3913632"/>
            <a:ext cx="5440680" cy="2331720"/>
          </a:xfrm>
          <a:prstGeom prst="roundRect">
            <a:avLst>
              <a:gd name="adj" fmla="val 3922"/>
            </a:avLst>
          </a:prstGeom>
          <a:solidFill>
            <a:srgbClr val="F5F7FB"/>
          </a:solidFill>
          <a:ln/>
        </p:spPr>
      </p:sp>
      <p:sp>
        <p:nvSpPr>
          <p:cNvPr id="17" name="Shape 15"/>
          <p:cNvSpPr/>
          <p:nvPr/>
        </p:nvSpPr>
        <p:spPr>
          <a:xfrm>
            <a:off x="6400800" y="4078224"/>
            <a:ext cx="5074920" cy="457200"/>
          </a:xfrm>
          <a:prstGeom prst="roundRect">
            <a:avLst>
              <a:gd name="adj" fmla="val 12000"/>
            </a:avLst>
          </a:prstGeom>
          <a:solidFill>
            <a:srgbClr val="024A4A"/>
          </a:solidFill>
          <a:ln/>
        </p:spPr>
      </p:sp>
      <p:sp>
        <p:nvSpPr>
          <p:cNvPr id="18" name="Text 16"/>
          <p:cNvSpPr/>
          <p:nvPr/>
        </p:nvSpPr>
        <p:spPr>
          <a:xfrm>
            <a:off x="6583680" y="4078224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*args &amp; **kwargs + Programs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537960" y="4681728"/>
            <a:ext cx="4892040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*args → tuple of extra positionals</a:t>
            </a:r>
            <a:endParaRPr lang="en-US" sz="1250" dirty="0"/>
          </a:p>
          <a:p>
            <a:pPr marL="342900" indent="-342900">
              <a:lnSpc>
                <a:spcPct val="110000"/>
              </a:lnSpc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**kwargs → dict of extra keywords</a:t>
            </a:r>
            <a:endParaRPr lang="en-US" sz="1250" dirty="0"/>
          </a:p>
          <a:p>
            <a:pPr marL="342900" indent="-342900">
              <a:lnSpc>
                <a:spcPct val="110000"/>
              </a:lnSpc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Unpack * and ** at call time</a:t>
            </a:r>
            <a:endParaRPr lang="en-US" sz="1250" dirty="0"/>
          </a:p>
          <a:p>
            <a:pPr marL="342900" indent="-342900">
              <a:lnSpc>
                <a:spcPct val="110000"/>
              </a:lnSpc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programs: flatten→mixed comprehensive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02920" y="6528816"/>
            <a:ext cx="9601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Advanced &amp; Revision  ·  Talent Shine — LBRC Technical Training Programme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475720" y="6528816"/>
            <a:ext cx="365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11B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548640"/>
            <a:ext cx="4572000" cy="4572000"/>
          </a:xfrm>
          <a:prstGeom prst="ellipse">
            <a:avLst/>
          </a:prstGeom>
          <a:solidFill>
            <a:srgbClr val="1A2C50"/>
          </a:solidFill>
          <a:ln/>
        </p:spPr>
      </p:sp>
      <p:sp>
        <p:nvSpPr>
          <p:cNvPr id="3" name="Shape 1"/>
          <p:cNvSpPr/>
          <p:nvPr/>
        </p:nvSpPr>
        <p:spPr>
          <a:xfrm>
            <a:off x="9784080" y="4480560"/>
            <a:ext cx="2743200" cy="2743200"/>
          </a:xfrm>
          <a:prstGeom prst="ellipse">
            <a:avLst/>
          </a:prstGeom>
          <a:solidFill>
            <a:srgbClr val="1F3560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868680"/>
            <a:ext cx="3200400" cy="402336"/>
          </a:xfrm>
          <a:prstGeom prst="roundRect">
            <a:avLst>
              <a:gd name="adj" fmla="val 50000"/>
            </a:avLst>
          </a:prstGeom>
          <a:solidFill>
            <a:srgbClr val="024A4A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868680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PYTHON &amp; REVISION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02920" y="15087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Course Complete!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502920" y="260604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i="1" dirty="0">
                <a:solidFill>
                  <a:srgbClr val="B7C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now have mastery over Python's most powerful one-liner tools and flexible function patterns.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02920" y="3611880"/>
            <a:ext cx="320040" cy="3200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35204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C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Major Concepts Covered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709160" y="3611880"/>
            <a:ext cx="320040" cy="320040"/>
          </a:xfrm>
          <a:prstGeom prst="ellipse">
            <a:avLst/>
          </a:prstGeom>
          <a:solidFill>
            <a:srgbClr val="3D1A70"/>
          </a:solidFill>
          <a:ln/>
        </p:spPr>
      </p:sp>
      <p:sp>
        <p:nvSpPr>
          <p:cNvPr id="11" name="Text 9"/>
          <p:cNvSpPr/>
          <p:nvPr/>
        </p:nvSpPr>
        <p:spPr>
          <a:xfrm>
            <a:off x="5166360" y="35204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C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Solved Programs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02920" y="4178808"/>
            <a:ext cx="320040" cy="320040"/>
          </a:xfrm>
          <a:prstGeom prst="ellipse">
            <a:avLst/>
          </a:prstGeom>
          <a:solidFill>
            <a:srgbClr val="7C3D00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408736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C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Cheat Sheet Included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709160" y="4178808"/>
            <a:ext cx="320040" cy="320040"/>
          </a:xfrm>
          <a:prstGeom prst="ellipse">
            <a:avLst/>
          </a:prstGeom>
          <a:solidFill>
            <a:srgbClr val="024A4A"/>
          </a:solidFill>
          <a:ln/>
        </p:spPr>
      </p:sp>
      <p:sp>
        <p:nvSpPr>
          <p:cNvPr id="15" name="Text 13"/>
          <p:cNvSpPr/>
          <p:nvPr/>
        </p:nvSpPr>
        <p:spPr>
          <a:xfrm>
            <a:off x="5166360" y="408736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C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with Explanations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02920" y="5074920"/>
            <a:ext cx="8046720" cy="804672"/>
          </a:xfrm>
          <a:prstGeom prst="roundRect">
            <a:avLst>
              <a:gd name="adj" fmla="val 10227"/>
            </a:avLst>
          </a:prstGeom>
          <a:solidFill>
            <a:srgbClr val="1F3157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5074920"/>
            <a:ext cx="76809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now ready for Data Structures &amp; Algorithms!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02920" y="6446520"/>
            <a:ext cx="9144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8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Foundation Track  ·  Talent Shine — LBRC Technical Training Programme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Advanced Python &amp; Revision</dc:title>
  <dc:subject>PptxGenJS Presentation</dc:subject>
  <dc:creator>PptxGenJS</dc:creator>
  <cp:lastModifiedBy>PptxGenJS</cp:lastModifiedBy>
  <cp:revision>1</cp:revision>
  <dcterms:created xsi:type="dcterms:W3CDTF">2026-06-23T02:58:22Z</dcterms:created>
  <dcterms:modified xsi:type="dcterms:W3CDTF">2026-06-23T02:58:22Z</dcterms:modified>
</cp:coreProperties>
</file>